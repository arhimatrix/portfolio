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d6843b5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d6843b5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d6843b5e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d6843b5e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d6843b5e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d6843b5e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d6843b5e4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cd6843b5e4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d6843b5e4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cd6843b5e4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Tier 1: 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</a:rPr>
              <a:t> Local Surface Communication (Proximity Link)</a:t>
            </a:r>
            <a:endParaRPr b="1"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chemeClr val="lt1"/>
                </a:highlight>
              </a:rPr>
              <a:t>    ◦ 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</a:rPr>
              <a:t>Definition:</a:t>
            </a:r>
            <a:r>
              <a:rPr lang="en" sz="1050">
                <a:solidFill>
                  <a:schemeClr val="dk1"/>
                </a:solidFill>
                <a:highlight>
                  <a:schemeClr val="lt1"/>
                </a:highlight>
              </a:rPr>
              <a:t> Short-range communication between surface assets, specifically between the Rover and the Drone (Helicopter).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Tier 2: 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</a:rPr>
              <a:t>Surface-to-Orbit Relay (Regional Link)</a:t>
            </a:r>
            <a:endParaRPr b="1"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chemeClr val="lt1"/>
                </a:highlight>
              </a:rPr>
              <a:t>    ◦ 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</a:rPr>
              <a:t>Definition:</a:t>
            </a:r>
            <a:r>
              <a:rPr lang="en" sz="1050">
                <a:solidFill>
                  <a:schemeClr val="dk1"/>
                </a:solidFill>
                <a:highlight>
                  <a:schemeClr val="lt1"/>
                </a:highlight>
              </a:rPr>
              <a:t> Medium-to-long-range communication from surface assets (Rover or independent Helicopter) to an orbiting asset (Mars Orbiter).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Tier 3 : 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</a:rPr>
              <a:t>Deep Space Network (Direct-to-Earth)</a:t>
            </a:r>
            <a:endParaRPr b="1"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chemeClr val="lt1"/>
                </a:highlight>
              </a:rPr>
              <a:t>    ◦ </a:t>
            </a: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</a:rPr>
              <a:t>Definition:</a:t>
            </a:r>
            <a:r>
              <a:rPr lang="en" sz="1050">
                <a:solidFill>
                  <a:schemeClr val="dk1"/>
                </a:solidFill>
                <a:highlight>
                  <a:schemeClr val="lt1"/>
                </a:highlight>
              </a:rPr>
              <a:t> Long-haul high-bandwidth communication directly between the Martian surface and Earth.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c6c2a075a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c6c2a075a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22250" y="89488"/>
            <a:ext cx="7490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83F04"/>
                </a:solidFill>
              </a:rPr>
              <a:t>SYSTEMS ARCHITECTURE</a:t>
            </a:r>
            <a:endParaRPr b="1" sz="2400">
              <a:solidFill>
                <a:srgbClr val="C6432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64325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15650" y="4727132"/>
            <a:ext cx="2851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373D"/>
                </a:solidFill>
              </a:rPr>
              <a:t>TP UMBRELLA  -  MSS26</a:t>
            </a:r>
            <a:endParaRPr sz="1000">
              <a:solidFill>
                <a:srgbClr val="31373D"/>
              </a:solidFill>
            </a:endParaRPr>
          </a:p>
        </p:txBody>
      </p:sp>
      <p:pic>
        <p:nvPicPr>
          <p:cNvPr id="57" name="Google Shape;57;p13" title="ISU black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324" y="54426"/>
            <a:ext cx="1004249" cy="52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3364" y="895890"/>
            <a:ext cx="6257249" cy="38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402750" y="541900"/>
            <a:ext cx="638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DESIGN DRIVERS, DEPENDENCIES AND ULTIMATE IMPACT ON ROVER / DRONE MASS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322250" y="89488"/>
            <a:ext cx="7490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783F04"/>
                </a:solidFill>
              </a:rPr>
              <a:t>SYSTEMS ARCHITECTURE</a:t>
            </a:r>
            <a:endParaRPr b="1" sz="2400">
              <a:solidFill>
                <a:srgbClr val="C6432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783F0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64325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15650" y="4727132"/>
            <a:ext cx="2851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373D"/>
                </a:solidFill>
              </a:rPr>
              <a:t>TP UMBRELLA  -  MSS26</a:t>
            </a:r>
            <a:endParaRPr sz="1000">
              <a:solidFill>
                <a:srgbClr val="31373D"/>
              </a:solidFill>
            </a:endParaRPr>
          </a:p>
        </p:txBody>
      </p:sp>
      <p:pic>
        <p:nvPicPr>
          <p:cNvPr id="66" name="Google Shape;66;p14" title="ISU black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324" y="54426"/>
            <a:ext cx="1004249" cy="5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395704" y="578288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FUNCTIONAL SYSTEM ARCHITECTURE</a:t>
            </a:r>
            <a:endParaRPr sz="700"/>
          </a:p>
        </p:txBody>
      </p:sp>
      <p:grpSp>
        <p:nvGrpSpPr>
          <p:cNvPr id="68" name="Google Shape;68;p14"/>
          <p:cNvGrpSpPr/>
          <p:nvPr/>
        </p:nvGrpSpPr>
        <p:grpSpPr>
          <a:xfrm>
            <a:off x="83806" y="960922"/>
            <a:ext cx="7965184" cy="3947418"/>
            <a:chOff x="48552" y="638879"/>
            <a:chExt cx="8601710" cy="4262871"/>
          </a:xfrm>
        </p:grpSpPr>
        <p:sp>
          <p:nvSpPr>
            <p:cNvPr id="69" name="Google Shape;69;p14"/>
            <p:cNvSpPr/>
            <p:nvPr/>
          </p:nvSpPr>
          <p:spPr>
            <a:xfrm>
              <a:off x="3432208" y="1235672"/>
              <a:ext cx="937200" cy="1800900"/>
            </a:xfrm>
            <a:prstGeom prst="roundRect">
              <a:avLst>
                <a:gd fmla="val 16667" name="adj"/>
              </a:avLst>
            </a:prstGeom>
            <a:solidFill>
              <a:srgbClr val="FFC6C6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83"/>
                <a:t>Mobility Manager</a:t>
              </a:r>
              <a:endParaRPr sz="983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83"/>
                <a:t>OBC</a:t>
              </a:r>
              <a:endParaRPr sz="983"/>
            </a:p>
          </p:txBody>
        </p:sp>
        <p:grpSp>
          <p:nvGrpSpPr>
            <p:cNvPr id="70" name="Google Shape;70;p14"/>
            <p:cNvGrpSpPr/>
            <p:nvPr/>
          </p:nvGrpSpPr>
          <p:grpSpPr>
            <a:xfrm>
              <a:off x="4936691" y="1154300"/>
              <a:ext cx="2298845" cy="844805"/>
              <a:chOff x="5495212" y="1119170"/>
              <a:chExt cx="3420900" cy="1005600"/>
            </a:xfrm>
          </p:grpSpPr>
          <p:sp>
            <p:nvSpPr>
              <p:cNvPr id="71" name="Google Shape;71;p14"/>
              <p:cNvSpPr/>
              <p:nvPr/>
            </p:nvSpPr>
            <p:spPr>
              <a:xfrm>
                <a:off x="5495212" y="1119170"/>
                <a:ext cx="3420900" cy="1005600"/>
              </a:xfrm>
              <a:prstGeom prst="roundRect">
                <a:avLst>
                  <a:gd fmla="val 16667" name="adj"/>
                </a:avLst>
              </a:prstGeom>
              <a:solidFill>
                <a:srgbClr val="FBF9F1"/>
              </a:solidFill>
              <a:ln cap="flat" cmpd="sng" w="597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6950" lIns="56950" spcFirstLastPara="1" rIns="56950" wrap="square" tIns="569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71"/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5577037" y="1376275"/>
                <a:ext cx="827100" cy="491400"/>
              </a:xfrm>
              <a:prstGeom prst="roundRect">
                <a:avLst>
                  <a:gd fmla="val 16667" name="adj"/>
                </a:avLst>
              </a:prstGeom>
              <a:solidFill>
                <a:srgbClr val="EEEEEE"/>
              </a:solidFill>
              <a:ln cap="flat" cmpd="sng" w="597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6950" lIns="56950" spcFirstLastPara="1" rIns="56950" wrap="square" tIns="569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2"/>
                  <a:t>Terrain evaluation</a:t>
                </a:r>
                <a:endParaRPr sz="622"/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6670826" y="1376291"/>
                <a:ext cx="928800" cy="491400"/>
              </a:xfrm>
              <a:prstGeom prst="roundRect">
                <a:avLst>
                  <a:gd fmla="val 16667" name="adj"/>
                </a:avLst>
              </a:prstGeom>
              <a:solidFill>
                <a:srgbClr val="EEEEEE"/>
              </a:solidFill>
              <a:ln cap="flat" cmpd="sng" w="597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6950" lIns="56950" spcFirstLastPara="1" rIns="56950" wrap="square" tIns="569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2"/>
                  <a:t>Perception</a:t>
                </a:r>
                <a:endParaRPr sz="622"/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7872155" y="1376275"/>
                <a:ext cx="928800" cy="491400"/>
              </a:xfrm>
              <a:prstGeom prst="roundRect">
                <a:avLst>
                  <a:gd fmla="val 16667" name="adj"/>
                </a:avLst>
              </a:prstGeom>
              <a:solidFill>
                <a:srgbClr val="EEEEEE"/>
              </a:solidFill>
              <a:ln cap="flat" cmpd="sng" w="597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6950" lIns="56950" spcFirstLastPara="1" rIns="56950" wrap="square" tIns="569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2"/>
                  <a:t>Preparation</a:t>
                </a:r>
                <a:endParaRPr sz="622"/>
              </a:p>
            </p:txBody>
          </p:sp>
        </p:grpSp>
        <p:sp>
          <p:nvSpPr>
            <p:cNvPr id="75" name="Google Shape;75;p14"/>
            <p:cNvSpPr/>
            <p:nvPr/>
          </p:nvSpPr>
          <p:spPr>
            <a:xfrm>
              <a:off x="4936927" y="2074267"/>
              <a:ext cx="2265000" cy="5832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83"/>
                <a:t>PATH PLANNING</a:t>
              </a:r>
              <a:endParaRPr sz="983"/>
            </a:p>
          </p:txBody>
        </p:sp>
        <p:sp>
          <p:nvSpPr>
            <p:cNvPr id="76" name="Google Shape;76;p14"/>
            <p:cNvSpPr/>
            <p:nvPr/>
          </p:nvSpPr>
          <p:spPr>
            <a:xfrm rot="-5400000">
              <a:off x="7184249" y="1399550"/>
              <a:ext cx="780900" cy="3480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73">
                  <a:solidFill>
                    <a:srgbClr val="000000"/>
                  </a:solidFill>
                </a:rPr>
                <a:t>Mobility equipment interface</a:t>
              </a:r>
              <a:endParaRPr sz="573">
                <a:solidFill>
                  <a:srgbClr val="000000"/>
                </a:solidFill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3087784" y="3237539"/>
              <a:ext cx="1626000" cy="2865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83"/>
                <a:t>Trajectory control</a:t>
              </a:r>
              <a:endParaRPr sz="983"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3142579" y="3723926"/>
              <a:ext cx="1516500" cy="2865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37"/>
                <a:t>Locomotion maneuver control</a:t>
              </a:r>
              <a:endParaRPr sz="737"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3142579" y="4212568"/>
              <a:ext cx="1516500" cy="2865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37"/>
                <a:t>Mobility equipment interface</a:t>
              </a:r>
              <a:endParaRPr sz="737"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4873921" y="4212568"/>
              <a:ext cx="937200" cy="2865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37"/>
                <a:t>ADE Manager</a:t>
              </a:r>
              <a:endParaRPr sz="737"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6053402" y="4103177"/>
              <a:ext cx="485400" cy="462300"/>
            </a:xfrm>
            <a:prstGeom prst="ellipse">
              <a:avLst/>
            </a:prstGeom>
            <a:solidFill>
              <a:srgbClr val="FBF9F1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1"/>
                <a:t>BC</a:t>
              </a:r>
              <a:endParaRPr sz="901"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6772574" y="4010500"/>
              <a:ext cx="937200" cy="6759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37"/>
                <a:t>Actuator drive electronics</a:t>
              </a:r>
              <a:endParaRPr sz="737"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7961679" y="3977980"/>
              <a:ext cx="348000" cy="331800"/>
            </a:xfrm>
            <a:prstGeom prst="ellipse">
              <a:avLst/>
            </a:prstGeom>
            <a:solidFill>
              <a:srgbClr val="8FB5D0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1"/>
                <a:t>M</a:t>
              </a:r>
              <a:endParaRPr sz="901"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7971204" y="4353798"/>
              <a:ext cx="348000" cy="331800"/>
            </a:xfrm>
            <a:prstGeom prst="ellipse">
              <a:avLst/>
            </a:prstGeom>
            <a:solidFill>
              <a:srgbClr val="8FB5D0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1"/>
                <a:t>M</a:t>
              </a:r>
              <a:endParaRPr sz="901"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1575554" y="1375644"/>
              <a:ext cx="1289100" cy="2865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1"/>
                <a:t>AbsLoc</a:t>
              </a:r>
              <a:endParaRPr sz="901"/>
            </a:p>
          </p:txBody>
        </p:sp>
        <p:sp>
          <p:nvSpPr>
            <p:cNvPr id="86" name="Google Shape;86;p14"/>
            <p:cNvSpPr/>
            <p:nvPr/>
          </p:nvSpPr>
          <p:spPr>
            <a:xfrm rot="-5400000">
              <a:off x="464928" y="1827731"/>
              <a:ext cx="1339500" cy="4353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37">
                  <a:solidFill>
                    <a:srgbClr val="000000"/>
                  </a:solidFill>
                </a:rPr>
                <a:t>Mobility equipment interface</a:t>
              </a:r>
              <a:endParaRPr sz="737">
                <a:solidFill>
                  <a:srgbClr val="000000"/>
                </a:solidFill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1575554" y="1787733"/>
              <a:ext cx="1289100" cy="9552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1"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1580861" y="2842311"/>
              <a:ext cx="1289100" cy="16017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1"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1685078" y="3262814"/>
              <a:ext cx="1069800" cy="2352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19"/>
                <a:t>Coarse tilt</a:t>
              </a:r>
              <a:endParaRPr sz="819"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1685078" y="3667207"/>
              <a:ext cx="1069800" cy="2352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19"/>
                <a:t>Slippage</a:t>
              </a:r>
              <a:endParaRPr sz="819"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1685078" y="4071600"/>
              <a:ext cx="1069800" cy="2352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19"/>
                <a:t>Safe position</a:t>
              </a:r>
              <a:endParaRPr sz="819"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2265487" y="2073648"/>
              <a:ext cx="546600" cy="3303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59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950" lIns="56950" spcFirstLastPara="1" rIns="56950" wrap="square" tIns="56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2"/>
                <a:t>Estimator</a:t>
              </a:r>
              <a:endParaRPr sz="622"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1633622" y="1834014"/>
              <a:ext cx="546600" cy="3303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59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950" lIns="56950" spcFirstLastPara="1" rIns="56950" wrap="square" tIns="56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2"/>
                <a:t>Wheel Odo</a:t>
              </a:r>
              <a:endParaRPr sz="622"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1633622" y="2331037"/>
              <a:ext cx="546600" cy="3303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59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950" lIns="56950" spcFirstLastPara="1" rIns="56950" wrap="square" tIns="56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2"/>
                <a:t>VisLOC</a:t>
              </a:r>
              <a:endParaRPr sz="622"/>
            </a:p>
          </p:txBody>
        </p:sp>
        <p:cxnSp>
          <p:nvCxnSpPr>
            <p:cNvPr id="95" name="Google Shape;95;p14"/>
            <p:cNvCxnSpPr>
              <a:stCxn id="71" idx="1"/>
            </p:cNvCxnSpPr>
            <p:nvPr/>
          </p:nvCxnSpPr>
          <p:spPr>
            <a:xfrm rot="10800000">
              <a:off x="4383491" y="1576702"/>
              <a:ext cx="5532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6" name="Google Shape;96;p14"/>
            <p:cNvCxnSpPr/>
            <p:nvPr/>
          </p:nvCxnSpPr>
          <p:spPr>
            <a:xfrm flipH="1" rot="10800000">
              <a:off x="4402549" y="2346875"/>
              <a:ext cx="522600" cy="960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7" name="Google Shape;97;p14"/>
            <p:cNvCxnSpPr>
              <a:stCxn id="72" idx="3"/>
            </p:cNvCxnSpPr>
            <p:nvPr/>
          </p:nvCxnSpPr>
          <p:spPr>
            <a:xfrm>
              <a:off x="5547489" y="1576707"/>
              <a:ext cx="1827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8" name="Google Shape;98;p14"/>
            <p:cNvCxnSpPr/>
            <p:nvPr/>
          </p:nvCxnSpPr>
          <p:spPr>
            <a:xfrm>
              <a:off x="6356573" y="1574530"/>
              <a:ext cx="1827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9" name="Google Shape;99;p14"/>
            <p:cNvCxnSpPr>
              <a:endCxn id="73" idx="0"/>
            </p:cNvCxnSpPr>
            <p:nvPr/>
          </p:nvCxnSpPr>
          <p:spPr>
            <a:xfrm flipH="1">
              <a:off x="6038780" y="1254508"/>
              <a:ext cx="1356600" cy="115800"/>
            </a:xfrm>
            <a:prstGeom prst="bentConnector2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14"/>
            <p:cNvCxnSpPr>
              <a:endCxn id="73" idx="2"/>
            </p:cNvCxnSpPr>
            <p:nvPr/>
          </p:nvCxnSpPr>
          <p:spPr>
            <a:xfrm rot="10800000">
              <a:off x="6038780" y="1783133"/>
              <a:ext cx="1356600" cy="118500"/>
            </a:xfrm>
            <a:prstGeom prst="bentConnector2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" name="Google Shape;101;p14"/>
            <p:cNvSpPr/>
            <p:nvPr/>
          </p:nvSpPr>
          <p:spPr>
            <a:xfrm>
              <a:off x="3386824" y="638879"/>
              <a:ext cx="1028100" cy="369300"/>
            </a:xfrm>
            <a:prstGeom prst="parallelogram">
              <a:avLst>
                <a:gd fmla="val 25000" name="adj"/>
              </a:avLst>
            </a:prstGeom>
            <a:solidFill>
              <a:srgbClr val="DED9FF"/>
            </a:solidFill>
            <a:ln cap="flat" cmpd="sng" w="7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1"/>
                <a:t>Command GPU</a:t>
              </a:r>
              <a:endParaRPr sz="901"/>
            </a:p>
          </p:txBody>
        </p:sp>
        <p:cxnSp>
          <p:nvCxnSpPr>
            <p:cNvPr id="102" name="Google Shape;102;p14"/>
            <p:cNvCxnSpPr>
              <a:stCxn id="101" idx="4"/>
              <a:endCxn id="69" idx="0"/>
            </p:cNvCxnSpPr>
            <p:nvPr/>
          </p:nvCxnSpPr>
          <p:spPr>
            <a:xfrm>
              <a:off x="3900874" y="1008179"/>
              <a:ext cx="0" cy="22740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3" name="Google Shape;103;p14"/>
            <p:cNvCxnSpPr>
              <a:stCxn id="85" idx="3"/>
            </p:cNvCxnSpPr>
            <p:nvPr/>
          </p:nvCxnSpPr>
          <p:spPr>
            <a:xfrm>
              <a:off x="2864654" y="1518894"/>
              <a:ext cx="5661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4" name="Google Shape;104;p14"/>
            <p:cNvCxnSpPr/>
            <p:nvPr/>
          </p:nvCxnSpPr>
          <p:spPr>
            <a:xfrm>
              <a:off x="2864625" y="2238828"/>
              <a:ext cx="5661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5" name="Google Shape;105;p14"/>
            <p:cNvCxnSpPr/>
            <p:nvPr/>
          </p:nvCxnSpPr>
          <p:spPr>
            <a:xfrm>
              <a:off x="1350874" y="1999164"/>
              <a:ext cx="2331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6" name="Google Shape;106;p14"/>
            <p:cNvCxnSpPr/>
            <p:nvPr/>
          </p:nvCxnSpPr>
          <p:spPr>
            <a:xfrm>
              <a:off x="1350731" y="2462518"/>
              <a:ext cx="2331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7" name="Google Shape;107;p14"/>
            <p:cNvCxnSpPr>
              <a:stCxn id="93" idx="3"/>
              <a:endCxn id="92" idx="0"/>
            </p:cNvCxnSpPr>
            <p:nvPr/>
          </p:nvCxnSpPr>
          <p:spPr>
            <a:xfrm>
              <a:off x="2180222" y="1999164"/>
              <a:ext cx="358500" cy="74400"/>
            </a:xfrm>
            <a:prstGeom prst="bentConnector2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" name="Google Shape;108;p14"/>
            <p:cNvCxnSpPr>
              <a:stCxn id="94" idx="3"/>
              <a:endCxn id="92" idx="2"/>
            </p:cNvCxnSpPr>
            <p:nvPr/>
          </p:nvCxnSpPr>
          <p:spPr>
            <a:xfrm flipH="1" rot="10800000">
              <a:off x="2180222" y="2404087"/>
              <a:ext cx="358500" cy="92100"/>
            </a:xfrm>
            <a:prstGeom prst="bentConnector2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" name="Google Shape;109;p14"/>
            <p:cNvCxnSpPr>
              <a:stCxn id="86" idx="1"/>
              <a:endCxn id="88" idx="1"/>
            </p:cNvCxnSpPr>
            <p:nvPr/>
          </p:nvCxnSpPr>
          <p:spPr>
            <a:xfrm flipH="1" rot="-5400000">
              <a:off x="893778" y="2956031"/>
              <a:ext cx="927900" cy="446100"/>
            </a:xfrm>
            <a:prstGeom prst="bentConnector2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" name="Google Shape;110;p14"/>
            <p:cNvCxnSpPr/>
            <p:nvPr/>
          </p:nvCxnSpPr>
          <p:spPr>
            <a:xfrm flipH="1" rot="10800000">
              <a:off x="1179132" y="3643161"/>
              <a:ext cx="391800" cy="120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1" name="Google Shape;111;p14"/>
            <p:cNvCxnSpPr/>
            <p:nvPr/>
          </p:nvCxnSpPr>
          <p:spPr>
            <a:xfrm>
              <a:off x="3968215" y="3036603"/>
              <a:ext cx="0" cy="20100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2" name="Google Shape;112;p14"/>
            <p:cNvCxnSpPr/>
            <p:nvPr/>
          </p:nvCxnSpPr>
          <p:spPr>
            <a:xfrm rot="10800000">
              <a:off x="3883967" y="3036539"/>
              <a:ext cx="0" cy="20100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3" name="Google Shape;113;p14"/>
            <p:cNvCxnSpPr/>
            <p:nvPr/>
          </p:nvCxnSpPr>
          <p:spPr>
            <a:xfrm>
              <a:off x="3968215" y="3525245"/>
              <a:ext cx="0" cy="20100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4" name="Google Shape;114;p14"/>
            <p:cNvCxnSpPr/>
            <p:nvPr/>
          </p:nvCxnSpPr>
          <p:spPr>
            <a:xfrm rot="10800000">
              <a:off x="3883967" y="3525181"/>
              <a:ext cx="0" cy="20100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" name="Google Shape;115;p14"/>
            <p:cNvCxnSpPr>
              <a:stCxn id="78" idx="2"/>
              <a:endCxn id="79" idx="0"/>
            </p:cNvCxnSpPr>
            <p:nvPr/>
          </p:nvCxnSpPr>
          <p:spPr>
            <a:xfrm>
              <a:off x="3900829" y="4010426"/>
              <a:ext cx="0" cy="20220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6" name="Google Shape;116;p14"/>
            <p:cNvCxnSpPr>
              <a:stCxn id="79" idx="3"/>
              <a:endCxn id="80" idx="1"/>
            </p:cNvCxnSpPr>
            <p:nvPr/>
          </p:nvCxnSpPr>
          <p:spPr>
            <a:xfrm>
              <a:off x="4659079" y="4355818"/>
              <a:ext cx="2148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7" name="Google Shape;117;p14"/>
            <p:cNvCxnSpPr/>
            <p:nvPr/>
          </p:nvCxnSpPr>
          <p:spPr>
            <a:xfrm rot="10800000">
              <a:off x="5804656" y="4383320"/>
              <a:ext cx="2445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5813260" y="4282222"/>
              <a:ext cx="252900" cy="840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9" name="Google Shape;119;p14"/>
            <p:cNvCxnSpPr/>
            <p:nvPr/>
          </p:nvCxnSpPr>
          <p:spPr>
            <a:xfrm rot="10800000">
              <a:off x="6520770" y="4374895"/>
              <a:ext cx="2445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0" name="Google Shape;120;p14"/>
            <p:cNvCxnSpPr/>
            <p:nvPr/>
          </p:nvCxnSpPr>
          <p:spPr>
            <a:xfrm>
              <a:off x="6529373" y="4273797"/>
              <a:ext cx="252900" cy="840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1" name="Google Shape;121;p14"/>
            <p:cNvCxnSpPr/>
            <p:nvPr/>
          </p:nvCxnSpPr>
          <p:spPr>
            <a:xfrm rot="10800000">
              <a:off x="7711395" y="4546345"/>
              <a:ext cx="2445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2" name="Google Shape;122;p14"/>
            <p:cNvCxnSpPr/>
            <p:nvPr/>
          </p:nvCxnSpPr>
          <p:spPr>
            <a:xfrm>
              <a:off x="7719998" y="4445247"/>
              <a:ext cx="252900" cy="840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3" name="Google Shape;123;p14"/>
            <p:cNvCxnSpPr/>
            <p:nvPr/>
          </p:nvCxnSpPr>
          <p:spPr>
            <a:xfrm rot="10800000">
              <a:off x="7701870" y="4222495"/>
              <a:ext cx="2445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4" name="Google Shape;124;p14"/>
            <p:cNvCxnSpPr/>
            <p:nvPr/>
          </p:nvCxnSpPr>
          <p:spPr>
            <a:xfrm>
              <a:off x="7710473" y="4121397"/>
              <a:ext cx="252900" cy="840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5" name="Google Shape;125;p14"/>
            <p:cNvSpPr/>
            <p:nvPr/>
          </p:nvSpPr>
          <p:spPr>
            <a:xfrm>
              <a:off x="528777" y="1582925"/>
              <a:ext cx="57300" cy="118500"/>
            </a:xfrm>
            <a:prstGeom prst="rect">
              <a:avLst/>
            </a:prstGeom>
            <a:solidFill>
              <a:srgbClr val="EEEEEE"/>
            </a:solidFill>
            <a:ln cap="flat" cmpd="sng" w="8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50" lIns="84650" spcFirstLastPara="1" rIns="84650" wrap="square" tIns="84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6"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633552" y="1582925"/>
              <a:ext cx="57300" cy="118500"/>
            </a:xfrm>
            <a:prstGeom prst="rect">
              <a:avLst/>
            </a:prstGeom>
            <a:solidFill>
              <a:srgbClr val="EEEEEE"/>
            </a:solidFill>
            <a:ln cap="flat" cmpd="sng" w="8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50" lIns="84650" spcFirstLastPara="1" rIns="84650" wrap="square" tIns="84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6"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637752" y="1834963"/>
              <a:ext cx="57300" cy="118500"/>
            </a:xfrm>
            <a:prstGeom prst="rect">
              <a:avLst/>
            </a:prstGeom>
            <a:solidFill>
              <a:srgbClr val="FFD966"/>
            </a:solidFill>
            <a:ln cap="flat" cmpd="sng" w="8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50" lIns="84650" spcFirstLastPara="1" rIns="84650" wrap="square" tIns="84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6"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647277" y="2073088"/>
              <a:ext cx="57300" cy="118500"/>
            </a:xfrm>
            <a:prstGeom prst="rect">
              <a:avLst/>
            </a:prstGeom>
            <a:solidFill>
              <a:srgbClr val="FFD966"/>
            </a:solidFill>
            <a:ln cap="flat" cmpd="sng" w="8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50" lIns="84650" spcFirstLastPara="1" rIns="84650" wrap="square" tIns="84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6"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547827" y="2354450"/>
              <a:ext cx="57300" cy="118500"/>
            </a:xfrm>
            <a:prstGeom prst="rect">
              <a:avLst/>
            </a:prstGeom>
            <a:solidFill>
              <a:srgbClr val="EEEEEE"/>
            </a:solidFill>
            <a:ln cap="flat" cmpd="sng" w="8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50" lIns="84650" spcFirstLastPara="1" rIns="84650" wrap="square" tIns="84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6"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652602" y="2354450"/>
              <a:ext cx="57300" cy="118500"/>
            </a:xfrm>
            <a:prstGeom prst="rect">
              <a:avLst/>
            </a:prstGeom>
            <a:solidFill>
              <a:srgbClr val="EEEEEE"/>
            </a:solidFill>
            <a:ln cap="flat" cmpd="sng" w="8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50" lIns="84650" spcFirstLastPara="1" rIns="84650" wrap="square" tIns="84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6"/>
            </a:p>
          </p:txBody>
        </p:sp>
        <p:cxnSp>
          <p:nvCxnSpPr>
            <p:cNvPr id="131" name="Google Shape;131;p14"/>
            <p:cNvCxnSpPr>
              <a:stCxn id="126" idx="3"/>
            </p:cNvCxnSpPr>
            <p:nvPr/>
          </p:nvCxnSpPr>
          <p:spPr>
            <a:xfrm>
              <a:off x="690852" y="1642175"/>
              <a:ext cx="220800" cy="0"/>
            </a:xfrm>
            <a:prstGeom prst="straightConnector1">
              <a:avLst/>
            </a:prstGeom>
            <a:noFill/>
            <a:ln cap="flat" cmpd="sng" w="8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2" name="Google Shape;132;p14"/>
            <p:cNvCxnSpPr/>
            <p:nvPr/>
          </p:nvCxnSpPr>
          <p:spPr>
            <a:xfrm>
              <a:off x="700377" y="1899350"/>
              <a:ext cx="220800" cy="0"/>
            </a:xfrm>
            <a:prstGeom prst="straightConnector1">
              <a:avLst/>
            </a:prstGeom>
            <a:noFill/>
            <a:ln cap="flat" cmpd="sng" w="8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3" name="Google Shape;133;p14"/>
            <p:cNvCxnSpPr/>
            <p:nvPr/>
          </p:nvCxnSpPr>
          <p:spPr>
            <a:xfrm>
              <a:off x="709902" y="2127950"/>
              <a:ext cx="220800" cy="0"/>
            </a:xfrm>
            <a:prstGeom prst="straightConnector1">
              <a:avLst/>
            </a:prstGeom>
            <a:noFill/>
            <a:ln cap="flat" cmpd="sng" w="8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4" name="Google Shape;134;p14"/>
            <p:cNvCxnSpPr/>
            <p:nvPr/>
          </p:nvCxnSpPr>
          <p:spPr>
            <a:xfrm>
              <a:off x="709902" y="2413700"/>
              <a:ext cx="220800" cy="0"/>
            </a:xfrm>
            <a:prstGeom prst="straightConnector1">
              <a:avLst/>
            </a:prstGeom>
            <a:noFill/>
            <a:ln cap="flat" cmpd="sng" w="8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5" name="Google Shape;135;p14"/>
            <p:cNvSpPr/>
            <p:nvPr/>
          </p:nvSpPr>
          <p:spPr>
            <a:xfrm rot="10800000">
              <a:off x="8074149" y="1289825"/>
              <a:ext cx="57300" cy="118500"/>
            </a:xfrm>
            <a:prstGeom prst="rect">
              <a:avLst/>
            </a:prstGeom>
            <a:solidFill>
              <a:srgbClr val="EEEEEE"/>
            </a:solidFill>
            <a:ln cap="flat" cmpd="sng" w="8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50" lIns="84650" spcFirstLastPara="1" rIns="84650" wrap="square" tIns="84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6"/>
            </a:p>
          </p:txBody>
        </p:sp>
        <p:sp>
          <p:nvSpPr>
            <p:cNvPr id="136" name="Google Shape;136;p14"/>
            <p:cNvSpPr/>
            <p:nvPr/>
          </p:nvSpPr>
          <p:spPr>
            <a:xfrm rot="10800000">
              <a:off x="7969374" y="1289825"/>
              <a:ext cx="57300" cy="118500"/>
            </a:xfrm>
            <a:prstGeom prst="rect">
              <a:avLst/>
            </a:prstGeom>
            <a:solidFill>
              <a:srgbClr val="EEEEEE"/>
            </a:solidFill>
            <a:ln cap="flat" cmpd="sng" w="8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4650" lIns="84650" spcFirstLastPara="1" rIns="84650" wrap="square" tIns="84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96"/>
            </a:p>
          </p:txBody>
        </p:sp>
        <p:cxnSp>
          <p:nvCxnSpPr>
            <p:cNvPr id="137" name="Google Shape;137;p14"/>
            <p:cNvCxnSpPr/>
            <p:nvPr/>
          </p:nvCxnSpPr>
          <p:spPr>
            <a:xfrm rot="10800000">
              <a:off x="7748574" y="1330025"/>
              <a:ext cx="220800" cy="0"/>
            </a:xfrm>
            <a:prstGeom prst="straightConnector1">
              <a:avLst/>
            </a:prstGeom>
            <a:noFill/>
            <a:ln cap="flat" cmpd="sng" w="8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8" name="Google Shape;138;p14"/>
            <p:cNvCxnSpPr/>
            <p:nvPr/>
          </p:nvCxnSpPr>
          <p:spPr>
            <a:xfrm>
              <a:off x="7771524" y="1387175"/>
              <a:ext cx="196200" cy="0"/>
            </a:xfrm>
            <a:prstGeom prst="straightConnector1">
              <a:avLst/>
            </a:prstGeom>
            <a:noFill/>
            <a:ln cap="flat" cmpd="sng" w="8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9" name="Google Shape;139;p14"/>
            <p:cNvSpPr txBox="1"/>
            <p:nvPr/>
          </p:nvSpPr>
          <p:spPr>
            <a:xfrm>
              <a:off x="48552" y="1504925"/>
              <a:ext cx="566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NAV CAM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40" name="Google Shape;140;p14"/>
            <p:cNvSpPr txBox="1"/>
            <p:nvPr/>
          </p:nvSpPr>
          <p:spPr>
            <a:xfrm>
              <a:off x="210477" y="1743050"/>
              <a:ext cx="566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IMU acc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41" name="Google Shape;141;p14"/>
            <p:cNvSpPr txBox="1"/>
            <p:nvPr/>
          </p:nvSpPr>
          <p:spPr>
            <a:xfrm>
              <a:off x="200952" y="1981175"/>
              <a:ext cx="566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IMU gyro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42" name="Google Shape;142;p14"/>
            <p:cNvSpPr txBox="1"/>
            <p:nvPr/>
          </p:nvSpPr>
          <p:spPr>
            <a:xfrm>
              <a:off x="86652" y="2266925"/>
              <a:ext cx="566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Loc CAM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43" name="Google Shape;143;p14"/>
            <p:cNvSpPr txBox="1"/>
            <p:nvPr/>
          </p:nvSpPr>
          <p:spPr>
            <a:xfrm>
              <a:off x="8084162" y="1212050"/>
              <a:ext cx="566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NAV CAM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7805003" y="3752300"/>
              <a:ext cx="72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Pan and Tilt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45" name="Google Shape;145;p14"/>
            <p:cNvSpPr txBox="1"/>
            <p:nvPr/>
          </p:nvSpPr>
          <p:spPr>
            <a:xfrm>
              <a:off x="7813028" y="4624850"/>
              <a:ext cx="72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BEMA</a:t>
              </a:r>
              <a:endParaRPr b="1" sz="556">
                <a:solidFill>
                  <a:srgbClr val="595959"/>
                </a:solidFill>
              </a:endParaRPr>
            </a:p>
          </p:txBody>
        </p:sp>
        <p:cxnSp>
          <p:nvCxnSpPr>
            <p:cNvPr id="146" name="Google Shape;146;p14"/>
            <p:cNvCxnSpPr/>
            <p:nvPr/>
          </p:nvCxnSpPr>
          <p:spPr>
            <a:xfrm rot="10800000">
              <a:off x="4373966" y="2272027"/>
              <a:ext cx="5532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7" name="Google Shape;147;p14"/>
            <p:cNvSpPr txBox="1"/>
            <p:nvPr/>
          </p:nvSpPr>
          <p:spPr>
            <a:xfrm>
              <a:off x="4402612" y="1363763"/>
              <a:ext cx="566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NAV MAP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48" name="Google Shape;148;p14"/>
            <p:cNvSpPr txBox="1"/>
            <p:nvPr/>
          </p:nvSpPr>
          <p:spPr>
            <a:xfrm>
              <a:off x="4374037" y="1895438"/>
              <a:ext cx="56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NAV MAP, pose and target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49" name="Google Shape;149;p14"/>
            <p:cNvSpPr txBox="1"/>
            <p:nvPr/>
          </p:nvSpPr>
          <p:spPr>
            <a:xfrm>
              <a:off x="4500862" y="2290413"/>
              <a:ext cx="566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Path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50" name="Google Shape;150;p14"/>
            <p:cNvSpPr txBox="1"/>
            <p:nvPr/>
          </p:nvSpPr>
          <p:spPr>
            <a:xfrm>
              <a:off x="3936300" y="2986400"/>
              <a:ext cx="1741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Position, heading,path sequence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51" name="Google Shape;151;p14"/>
            <p:cNvSpPr txBox="1"/>
            <p:nvPr/>
          </p:nvSpPr>
          <p:spPr>
            <a:xfrm>
              <a:off x="3931600" y="3485050"/>
              <a:ext cx="1069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GenACK, GenPT, Stop 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52" name="Google Shape;152;p14"/>
            <p:cNvSpPr txBox="1"/>
            <p:nvPr/>
          </p:nvSpPr>
          <p:spPr>
            <a:xfrm>
              <a:off x="3879149" y="3983700"/>
              <a:ext cx="1516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Maneuver motor command 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53" name="Google Shape;153;p14"/>
            <p:cNvSpPr txBox="1"/>
            <p:nvPr/>
          </p:nvSpPr>
          <p:spPr>
            <a:xfrm>
              <a:off x="3611924" y="4451625"/>
              <a:ext cx="1783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Corrected maneuver motor command 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54" name="Google Shape;154;p14"/>
            <p:cNvSpPr txBox="1"/>
            <p:nvPr/>
          </p:nvSpPr>
          <p:spPr>
            <a:xfrm>
              <a:off x="2869949" y="1454450"/>
              <a:ext cx="566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Reference attitude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55" name="Google Shape;155;p14"/>
            <p:cNvSpPr txBox="1"/>
            <p:nvPr/>
          </p:nvSpPr>
          <p:spPr>
            <a:xfrm>
              <a:off x="2886399" y="2193588"/>
              <a:ext cx="566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Position and attitude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56" name="Google Shape;156;p14"/>
            <p:cNvSpPr txBox="1"/>
            <p:nvPr/>
          </p:nvSpPr>
          <p:spPr>
            <a:xfrm>
              <a:off x="226677" y="2474075"/>
              <a:ext cx="801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Locomotion</a:t>
              </a:r>
              <a:endParaRPr b="1" sz="556">
                <a:solidFill>
                  <a:srgbClr val="595959"/>
                </a:solidFill>
              </a:endParaRPr>
            </a:p>
          </p:txBody>
        </p:sp>
        <p:cxnSp>
          <p:nvCxnSpPr>
            <p:cNvPr id="157" name="Google Shape;157;p14"/>
            <p:cNvCxnSpPr/>
            <p:nvPr/>
          </p:nvCxnSpPr>
          <p:spPr>
            <a:xfrm>
              <a:off x="1350226" y="1522975"/>
              <a:ext cx="233100" cy="0"/>
            </a:xfrm>
            <a:prstGeom prst="straightConnector1">
              <a:avLst/>
            </a:prstGeom>
            <a:noFill/>
            <a:ln cap="flat" cmpd="sng" w="78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8" name="Google Shape;158;p14"/>
            <p:cNvSpPr txBox="1"/>
            <p:nvPr/>
          </p:nvSpPr>
          <p:spPr>
            <a:xfrm>
              <a:off x="2353895" y="1713818"/>
              <a:ext cx="566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RelLOC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59" name="Google Shape;159;p14"/>
            <p:cNvSpPr txBox="1"/>
            <p:nvPr/>
          </p:nvSpPr>
          <p:spPr>
            <a:xfrm>
              <a:off x="4850657" y="1095800"/>
              <a:ext cx="892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NAVIGATION</a:t>
              </a:r>
              <a:endParaRPr b="1" sz="556">
                <a:solidFill>
                  <a:srgbClr val="595959"/>
                </a:solidFill>
              </a:endParaRPr>
            </a:p>
          </p:txBody>
        </p:sp>
        <p:sp>
          <p:nvSpPr>
            <p:cNvPr id="160" name="Google Shape;160;p14"/>
            <p:cNvSpPr txBox="1"/>
            <p:nvPr/>
          </p:nvSpPr>
          <p:spPr>
            <a:xfrm>
              <a:off x="1926008" y="2779990"/>
              <a:ext cx="892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4650" lIns="84650" spcFirstLastPara="1" rIns="84650" wrap="square" tIns="8465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56">
                  <a:solidFill>
                    <a:srgbClr val="595959"/>
                  </a:solidFill>
                </a:rPr>
                <a:t>TRAVERSE MONITORING</a:t>
              </a:r>
              <a:endParaRPr b="1" sz="556">
                <a:solidFill>
                  <a:srgbClr val="595959"/>
                </a:solidFill>
              </a:endParaRPr>
            </a:p>
          </p:txBody>
        </p:sp>
      </p:grpSp>
      <p:sp>
        <p:nvSpPr>
          <p:cNvPr id="161" name="Google Shape;1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8085325" y="4200525"/>
            <a:ext cx="892500" cy="3414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82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7"/>
              <a:t>Power Distribution Unit (PDU)</a:t>
            </a:r>
            <a:endParaRPr sz="607"/>
          </a:p>
        </p:txBody>
      </p:sp>
      <p:cxnSp>
        <p:nvCxnSpPr>
          <p:cNvPr id="163" name="Google Shape;163;p14"/>
          <p:cNvCxnSpPr>
            <a:stCxn id="83" idx="6"/>
            <a:endCxn id="162" idx="1"/>
          </p:cNvCxnSpPr>
          <p:nvPr/>
        </p:nvCxnSpPr>
        <p:spPr>
          <a:xfrm>
            <a:off x="7733611" y="4206553"/>
            <a:ext cx="351600" cy="1647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4"/>
          <p:cNvCxnSpPr>
            <a:stCxn id="84" idx="6"/>
            <a:endCxn id="162" idx="1"/>
          </p:cNvCxnSpPr>
          <p:nvPr/>
        </p:nvCxnSpPr>
        <p:spPr>
          <a:xfrm flipH="1" rot="10800000">
            <a:off x="7742431" y="4371261"/>
            <a:ext cx="342900" cy="183300"/>
          </a:xfrm>
          <a:prstGeom prst="bentConnector3">
            <a:avLst>
              <a:gd fmla="val 4999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322250" y="89488"/>
            <a:ext cx="7490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83F04"/>
                </a:solidFill>
              </a:rPr>
              <a:t>SYSTEMS ARCHITECTURE - ROVER</a:t>
            </a:r>
            <a:endParaRPr b="1" sz="2400">
              <a:solidFill>
                <a:srgbClr val="C6432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64325"/>
              </a:solidFill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115650" y="4727132"/>
            <a:ext cx="2851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373D"/>
                </a:solidFill>
              </a:rPr>
              <a:t>TP UMBRELLA  -  MSS26</a:t>
            </a:r>
            <a:endParaRPr sz="1000">
              <a:solidFill>
                <a:srgbClr val="31373D"/>
              </a:solidFill>
            </a:endParaRPr>
          </a:p>
        </p:txBody>
      </p:sp>
      <p:pic>
        <p:nvPicPr>
          <p:cNvPr id="172" name="Google Shape;172;p15" title="ISU black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324" y="54426"/>
            <a:ext cx="1004249" cy="5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5"/>
          <p:cNvSpPr/>
          <p:nvPr/>
        </p:nvSpPr>
        <p:spPr>
          <a:xfrm>
            <a:off x="402630" y="1705404"/>
            <a:ext cx="866700" cy="1409700"/>
          </a:xfrm>
          <a:prstGeom prst="roundRect">
            <a:avLst>
              <a:gd fmla="val 16667" name="adj"/>
            </a:avLst>
          </a:prstGeom>
          <a:solidFill>
            <a:srgbClr val="DED9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GPU</a:t>
            </a:r>
            <a:endParaRPr/>
          </a:p>
        </p:txBody>
      </p:sp>
      <p:sp>
        <p:nvSpPr>
          <p:cNvPr id="174" name="Google Shape;174;p15"/>
          <p:cNvSpPr/>
          <p:nvPr/>
        </p:nvSpPr>
        <p:spPr>
          <a:xfrm>
            <a:off x="2079030" y="1705404"/>
            <a:ext cx="866700" cy="1409700"/>
          </a:xfrm>
          <a:prstGeom prst="roundRect">
            <a:avLst>
              <a:gd fmla="val 16667" name="adj"/>
            </a:avLst>
          </a:prstGeom>
          <a:solidFill>
            <a:srgbClr val="FFC6C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OBC</a:t>
            </a:r>
            <a:endParaRPr/>
          </a:p>
        </p:txBody>
      </p:sp>
      <p:cxnSp>
        <p:nvCxnSpPr>
          <p:cNvPr id="175" name="Google Shape;175;p15"/>
          <p:cNvCxnSpPr/>
          <p:nvPr/>
        </p:nvCxnSpPr>
        <p:spPr>
          <a:xfrm rot="10800000">
            <a:off x="1263505" y="2002854"/>
            <a:ext cx="823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15"/>
          <p:cNvCxnSpPr/>
          <p:nvPr/>
        </p:nvCxnSpPr>
        <p:spPr>
          <a:xfrm rot="10800000">
            <a:off x="1263505" y="2183829"/>
            <a:ext cx="823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15"/>
          <p:cNvCxnSpPr/>
          <p:nvPr/>
        </p:nvCxnSpPr>
        <p:spPr>
          <a:xfrm rot="10800000">
            <a:off x="1263505" y="2364804"/>
            <a:ext cx="823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15"/>
          <p:cNvCxnSpPr/>
          <p:nvPr/>
        </p:nvCxnSpPr>
        <p:spPr>
          <a:xfrm rot="10800000">
            <a:off x="1263505" y="2536254"/>
            <a:ext cx="823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15"/>
          <p:cNvCxnSpPr/>
          <p:nvPr/>
        </p:nvCxnSpPr>
        <p:spPr>
          <a:xfrm>
            <a:off x="1282430" y="2774379"/>
            <a:ext cx="790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15"/>
          <p:cNvSpPr txBox="1"/>
          <p:nvPr/>
        </p:nvSpPr>
        <p:spPr>
          <a:xfrm>
            <a:off x="1257605" y="1764054"/>
            <a:ext cx="866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ADCS DATA (IMU)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1286180" y="1992654"/>
            <a:ext cx="10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595959"/>
                </a:solidFill>
              </a:rPr>
              <a:t>GEOPHONES / PASS</a:t>
            </a:r>
            <a:endParaRPr b="1" sz="500">
              <a:solidFill>
                <a:srgbClr val="595959"/>
              </a:solidFill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1282152" y="2175932"/>
            <a:ext cx="100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THP DATA LOOP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1414155" y="2345416"/>
            <a:ext cx="653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EPS DATA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1242705" y="2573679"/>
            <a:ext cx="790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COMMANDS 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400430" y="4193604"/>
            <a:ext cx="866700" cy="333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ANTENNA</a:t>
            </a:r>
            <a:endParaRPr sz="700"/>
          </a:p>
        </p:txBody>
      </p:sp>
      <p:sp>
        <p:nvSpPr>
          <p:cNvPr id="186" name="Google Shape;186;p15"/>
          <p:cNvSpPr/>
          <p:nvPr/>
        </p:nvSpPr>
        <p:spPr>
          <a:xfrm>
            <a:off x="402630" y="3630954"/>
            <a:ext cx="866700" cy="333300"/>
          </a:xfrm>
          <a:prstGeom prst="rect">
            <a:avLst/>
          </a:prstGeom>
          <a:solidFill>
            <a:srgbClr val="FBF9F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RF MODEM</a:t>
            </a:r>
            <a:endParaRPr sz="700"/>
          </a:p>
        </p:txBody>
      </p:sp>
      <p:cxnSp>
        <p:nvCxnSpPr>
          <p:cNvPr id="187" name="Google Shape;187;p15"/>
          <p:cNvCxnSpPr>
            <a:stCxn id="185" idx="0"/>
            <a:endCxn id="186" idx="2"/>
          </p:cNvCxnSpPr>
          <p:nvPr/>
        </p:nvCxnSpPr>
        <p:spPr>
          <a:xfrm flipH="1" rot="10800000">
            <a:off x="833780" y="3964404"/>
            <a:ext cx="2100" cy="229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15"/>
          <p:cNvSpPr/>
          <p:nvPr/>
        </p:nvSpPr>
        <p:spPr>
          <a:xfrm>
            <a:off x="2078992" y="4203779"/>
            <a:ext cx="866700" cy="333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ANTENNA</a:t>
            </a:r>
            <a:endParaRPr sz="700"/>
          </a:p>
        </p:txBody>
      </p:sp>
      <p:sp>
        <p:nvSpPr>
          <p:cNvPr id="189" name="Google Shape;189;p15"/>
          <p:cNvSpPr/>
          <p:nvPr/>
        </p:nvSpPr>
        <p:spPr>
          <a:xfrm>
            <a:off x="2081192" y="3641129"/>
            <a:ext cx="866700" cy="333300"/>
          </a:xfrm>
          <a:prstGeom prst="rect">
            <a:avLst/>
          </a:prstGeom>
          <a:solidFill>
            <a:srgbClr val="FBF9F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RF MODEM</a:t>
            </a:r>
            <a:endParaRPr sz="700"/>
          </a:p>
        </p:txBody>
      </p:sp>
      <p:cxnSp>
        <p:nvCxnSpPr>
          <p:cNvPr id="190" name="Google Shape;190;p15"/>
          <p:cNvCxnSpPr>
            <a:stCxn id="188" idx="0"/>
            <a:endCxn id="189" idx="2"/>
          </p:cNvCxnSpPr>
          <p:nvPr/>
        </p:nvCxnSpPr>
        <p:spPr>
          <a:xfrm flipH="1" rot="10800000">
            <a:off x="2512342" y="3974579"/>
            <a:ext cx="2100" cy="229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15"/>
          <p:cNvCxnSpPr>
            <a:stCxn id="186" idx="0"/>
            <a:endCxn id="173" idx="2"/>
          </p:cNvCxnSpPr>
          <p:nvPr/>
        </p:nvCxnSpPr>
        <p:spPr>
          <a:xfrm rot="10800000">
            <a:off x="835980" y="3114954"/>
            <a:ext cx="0" cy="51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5"/>
          <p:cNvCxnSpPr>
            <a:stCxn id="189" idx="0"/>
            <a:endCxn id="174" idx="2"/>
          </p:cNvCxnSpPr>
          <p:nvPr/>
        </p:nvCxnSpPr>
        <p:spPr>
          <a:xfrm rot="10800000">
            <a:off x="2512442" y="3115229"/>
            <a:ext cx="2100" cy="52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p15"/>
          <p:cNvSpPr txBox="1"/>
          <p:nvPr/>
        </p:nvSpPr>
        <p:spPr>
          <a:xfrm>
            <a:off x="346080" y="616550"/>
            <a:ext cx="267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OBDH SYSTEM ARCHITECTURE</a:t>
            </a:r>
            <a:endParaRPr sz="700"/>
          </a:p>
        </p:txBody>
      </p:sp>
      <p:grpSp>
        <p:nvGrpSpPr>
          <p:cNvPr id="194" name="Google Shape;194;p15"/>
          <p:cNvGrpSpPr/>
          <p:nvPr/>
        </p:nvGrpSpPr>
        <p:grpSpPr>
          <a:xfrm>
            <a:off x="4014597" y="1266560"/>
            <a:ext cx="4140144" cy="3404723"/>
            <a:chOff x="4327875" y="804800"/>
            <a:chExt cx="4771950" cy="3924300"/>
          </a:xfrm>
        </p:grpSpPr>
        <p:sp>
          <p:nvSpPr>
            <p:cNvPr id="195" name="Google Shape;195;p15"/>
            <p:cNvSpPr/>
            <p:nvPr/>
          </p:nvSpPr>
          <p:spPr>
            <a:xfrm>
              <a:off x="6137625" y="2212975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C27BA0"/>
            </a:solidFill>
            <a:ln cap="flat" cmpd="sng" w="8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7"/>
                <a:t>Power Distribution Unit (PDU)</a:t>
              </a:r>
              <a:endParaRPr sz="607"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7223475" y="804800"/>
              <a:ext cx="1114500" cy="393600"/>
            </a:xfrm>
            <a:prstGeom prst="roundRect">
              <a:avLst>
                <a:gd fmla="val 16667" name="adj"/>
              </a:avLst>
            </a:prstGeom>
            <a:solidFill>
              <a:srgbClr val="F6C8C7"/>
            </a:solidFill>
            <a:ln cap="flat" cmpd="sng" w="8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7"/>
                <a:t>High Capacity Li-ion Battery Bank (8s)</a:t>
              </a:r>
              <a:endParaRPr sz="607"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4966125" y="804800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F6C8C7"/>
            </a:solidFill>
            <a:ln cap="flat" cmpd="sng" w="8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7"/>
                <a:t>Triple-Junction GAS Solar Array</a:t>
              </a:r>
              <a:endParaRPr sz="607"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4327875" y="1576325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DCD9F9"/>
            </a:solidFill>
            <a:ln cap="flat" cmpd="sng" w="8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7"/>
                <a:t>Spectrometer</a:t>
              </a:r>
              <a:endParaRPr sz="607"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4327875" y="2204975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DCD9F9"/>
            </a:solidFill>
            <a:ln cap="flat" cmpd="sng" w="8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7"/>
                <a:t>Nav Cam</a:t>
              </a:r>
              <a:endParaRPr sz="607"/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4327875" y="2890775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F6C8C7"/>
            </a:solidFill>
            <a:ln cap="flat" cmpd="sng" w="8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7"/>
                <a:t>Micro-Actuators</a:t>
              </a:r>
              <a:endParaRPr sz="607"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4327875" y="3548000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8FB5D0"/>
            </a:solidFill>
            <a:ln cap="flat" cmpd="sng" w="8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7"/>
                <a:t>Locomotion Motors</a:t>
              </a:r>
              <a:endParaRPr sz="607"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7928325" y="1462025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DCD9F9"/>
            </a:solidFill>
            <a:ln cap="flat" cmpd="sng" w="8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7"/>
                <a:t>Environmental sensors</a:t>
              </a:r>
              <a:endParaRPr sz="607"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7928325" y="2214500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DCD9F9"/>
            </a:solidFill>
            <a:ln cap="flat" cmpd="sng" w="8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7"/>
                <a:t>Geophones + PASS</a:t>
              </a:r>
              <a:endParaRPr sz="607"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7928325" y="2795525"/>
              <a:ext cx="1171500" cy="546300"/>
            </a:xfrm>
            <a:prstGeom prst="roundRect">
              <a:avLst>
                <a:gd fmla="val 7251" name="adj"/>
              </a:avLst>
            </a:prstGeom>
            <a:solidFill>
              <a:srgbClr val="FFC6C6"/>
            </a:solidFill>
            <a:ln cap="flat" cmpd="sng" w="8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8"/>
                <a:t>OBC / AI Accelerator</a:t>
              </a:r>
              <a:endParaRPr sz="868"/>
            </a:p>
          </p:txBody>
        </p:sp>
        <p:cxnSp>
          <p:nvCxnSpPr>
            <p:cNvPr id="205" name="Google Shape;205;p15"/>
            <p:cNvCxnSpPr>
              <a:stCxn id="197" idx="3"/>
            </p:cNvCxnSpPr>
            <p:nvPr/>
          </p:nvCxnSpPr>
          <p:spPr>
            <a:xfrm>
              <a:off x="6137625" y="1001600"/>
              <a:ext cx="285900" cy="1212900"/>
            </a:xfrm>
            <a:prstGeom prst="bentConnector2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15"/>
            <p:cNvCxnSpPr>
              <a:stCxn id="196" idx="1"/>
            </p:cNvCxnSpPr>
            <p:nvPr/>
          </p:nvCxnSpPr>
          <p:spPr>
            <a:xfrm flipH="1">
              <a:off x="6966375" y="1001600"/>
              <a:ext cx="257100" cy="1212900"/>
            </a:xfrm>
            <a:prstGeom prst="bentConnector2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7" name="Google Shape;207;p15"/>
            <p:cNvSpPr/>
            <p:nvPr/>
          </p:nvSpPr>
          <p:spPr>
            <a:xfrm>
              <a:off x="5985225" y="4424300"/>
              <a:ext cx="1476300" cy="3048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8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81"/>
                <a:t>PDU Logic &amp; Telemetry</a:t>
              </a:r>
              <a:endParaRPr sz="781"/>
            </a:p>
          </p:txBody>
        </p:sp>
        <p:cxnSp>
          <p:nvCxnSpPr>
            <p:cNvPr id="208" name="Google Shape;208;p15"/>
            <p:cNvCxnSpPr/>
            <p:nvPr/>
          </p:nvCxnSpPr>
          <p:spPr>
            <a:xfrm>
              <a:off x="6423375" y="2014475"/>
              <a:ext cx="0" cy="200100"/>
            </a:xfrm>
            <a:prstGeom prst="straightConnector1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9" name="Google Shape;209;p15"/>
            <p:cNvCxnSpPr/>
            <p:nvPr/>
          </p:nvCxnSpPr>
          <p:spPr>
            <a:xfrm>
              <a:off x="6966300" y="2014475"/>
              <a:ext cx="0" cy="200100"/>
            </a:xfrm>
            <a:prstGeom prst="straightConnector1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0" name="Google Shape;210;p15"/>
            <p:cNvCxnSpPr/>
            <p:nvPr/>
          </p:nvCxnSpPr>
          <p:spPr>
            <a:xfrm flipH="1" rot="10800000">
              <a:off x="7119600" y="1677975"/>
              <a:ext cx="808800" cy="518400"/>
            </a:xfrm>
            <a:prstGeom prst="bentConnector3">
              <a:avLst>
                <a:gd fmla="val 1178" name="adj1"/>
              </a:avLst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1" name="Google Shape;211;p15"/>
            <p:cNvSpPr/>
            <p:nvPr/>
          </p:nvSpPr>
          <p:spPr>
            <a:xfrm>
              <a:off x="7928325" y="3452750"/>
              <a:ext cx="1171500" cy="546300"/>
            </a:xfrm>
            <a:prstGeom prst="roundRect">
              <a:avLst>
                <a:gd fmla="val 7251" name="adj"/>
              </a:avLst>
            </a:prstGeom>
            <a:solidFill>
              <a:srgbClr val="DED9FF"/>
            </a:solidFill>
            <a:ln cap="flat" cmpd="sng" w="827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8"/>
                <a:t>GPU/communication module</a:t>
              </a:r>
              <a:endParaRPr sz="868"/>
            </a:p>
          </p:txBody>
        </p:sp>
        <p:cxnSp>
          <p:nvCxnSpPr>
            <p:cNvPr id="212" name="Google Shape;212;p15"/>
            <p:cNvCxnSpPr>
              <a:stCxn id="195" idx="2"/>
              <a:endCxn id="207" idx="0"/>
            </p:cNvCxnSpPr>
            <p:nvPr/>
          </p:nvCxnSpPr>
          <p:spPr>
            <a:xfrm>
              <a:off x="6723375" y="2606575"/>
              <a:ext cx="0" cy="1817700"/>
            </a:xfrm>
            <a:prstGeom prst="straightConnector1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3" name="Google Shape;213;p15"/>
            <p:cNvCxnSpPr/>
            <p:nvPr/>
          </p:nvCxnSpPr>
          <p:spPr>
            <a:xfrm rot="10800000">
              <a:off x="6723375" y="2597050"/>
              <a:ext cx="3000" cy="160500"/>
            </a:xfrm>
            <a:prstGeom prst="straightConnector1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4" name="Google Shape;214;p15"/>
            <p:cNvCxnSpPr>
              <a:endCxn id="201" idx="3"/>
            </p:cNvCxnSpPr>
            <p:nvPr/>
          </p:nvCxnSpPr>
          <p:spPr>
            <a:xfrm rot="5400000">
              <a:off x="5420475" y="2684000"/>
              <a:ext cx="1139700" cy="981900"/>
            </a:xfrm>
            <a:prstGeom prst="bentConnector2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15"/>
            <p:cNvCxnSpPr>
              <a:endCxn id="200" idx="3"/>
            </p:cNvCxnSpPr>
            <p:nvPr/>
          </p:nvCxnSpPr>
          <p:spPr>
            <a:xfrm flipH="1">
              <a:off x="5499375" y="2605175"/>
              <a:ext cx="820200" cy="482400"/>
            </a:xfrm>
            <a:prstGeom prst="bentConnector3">
              <a:avLst>
                <a:gd fmla="val -476" name="adj1"/>
              </a:avLst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5"/>
            <p:cNvCxnSpPr>
              <a:endCxn id="198" idx="3"/>
            </p:cNvCxnSpPr>
            <p:nvPr/>
          </p:nvCxnSpPr>
          <p:spPr>
            <a:xfrm rot="10800000">
              <a:off x="5499375" y="1773125"/>
              <a:ext cx="782100" cy="432000"/>
            </a:xfrm>
            <a:prstGeom prst="bentConnector3">
              <a:avLst>
                <a:gd fmla="val 852" name="adj1"/>
              </a:avLst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5"/>
            <p:cNvCxnSpPr>
              <a:stCxn id="195" idx="1"/>
              <a:endCxn id="199" idx="3"/>
            </p:cNvCxnSpPr>
            <p:nvPr/>
          </p:nvCxnSpPr>
          <p:spPr>
            <a:xfrm rot="10800000">
              <a:off x="5499225" y="2401675"/>
              <a:ext cx="638400" cy="8100"/>
            </a:xfrm>
            <a:prstGeom prst="straightConnector1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8" name="Google Shape;218;p15"/>
            <p:cNvCxnSpPr/>
            <p:nvPr/>
          </p:nvCxnSpPr>
          <p:spPr>
            <a:xfrm rot="10800000">
              <a:off x="5490725" y="1776400"/>
              <a:ext cx="123900" cy="0"/>
            </a:xfrm>
            <a:prstGeom prst="straightConnector1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9" name="Google Shape;219;p15"/>
            <p:cNvCxnSpPr/>
            <p:nvPr/>
          </p:nvCxnSpPr>
          <p:spPr>
            <a:xfrm rot="10800000">
              <a:off x="5490725" y="3090850"/>
              <a:ext cx="123900" cy="0"/>
            </a:xfrm>
            <a:prstGeom prst="straightConnector1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0" name="Google Shape;220;p15"/>
            <p:cNvCxnSpPr/>
            <p:nvPr/>
          </p:nvCxnSpPr>
          <p:spPr>
            <a:xfrm rot="10800000">
              <a:off x="5490725" y="3748075"/>
              <a:ext cx="123900" cy="0"/>
            </a:xfrm>
            <a:prstGeom prst="straightConnector1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1" name="Google Shape;221;p15"/>
            <p:cNvCxnSpPr>
              <a:stCxn id="195" idx="3"/>
              <a:endCxn id="203" idx="1"/>
            </p:cNvCxnSpPr>
            <p:nvPr/>
          </p:nvCxnSpPr>
          <p:spPr>
            <a:xfrm>
              <a:off x="7309125" y="2409775"/>
              <a:ext cx="619200" cy="1500"/>
            </a:xfrm>
            <a:prstGeom prst="straightConnector1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2" name="Google Shape;222;p15"/>
            <p:cNvCxnSpPr>
              <a:endCxn id="204" idx="1"/>
            </p:cNvCxnSpPr>
            <p:nvPr/>
          </p:nvCxnSpPr>
          <p:spPr>
            <a:xfrm>
              <a:off x="7186125" y="2596475"/>
              <a:ext cx="742200" cy="472200"/>
            </a:xfrm>
            <a:prstGeom prst="bentConnector3">
              <a:avLst>
                <a:gd fmla="val -405" name="adj1"/>
              </a:avLst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5"/>
            <p:cNvCxnSpPr>
              <a:endCxn id="211" idx="1"/>
            </p:cNvCxnSpPr>
            <p:nvPr/>
          </p:nvCxnSpPr>
          <p:spPr>
            <a:xfrm flipH="1" rot="-5400000">
              <a:off x="6906825" y="2704400"/>
              <a:ext cx="1129500" cy="913500"/>
            </a:xfrm>
            <a:prstGeom prst="bentConnector2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5"/>
            <p:cNvCxnSpPr/>
            <p:nvPr/>
          </p:nvCxnSpPr>
          <p:spPr>
            <a:xfrm>
              <a:off x="7824425" y="1673350"/>
              <a:ext cx="114300" cy="0"/>
            </a:xfrm>
            <a:prstGeom prst="straightConnector1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5" name="Google Shape;225;p15"/>
            <p:cNvCxnSpPr/>
            <p:nvPr/>
          </p:nvCxnSpPr>
          <p:spPr>
            <a:xfrm>
              <a:off x="7824425" y="3073525"/>
              <a:ext cx="114300" cy="0"/>
            </a:xfrm>
            <a:prstGeom prst="straightConnector1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6" name="Google Shape;226;p15"/>
            <p:cNvCxnSpPr/>
            <p:nvPr/>
          </p:nvCxnSpPr>
          <p:spPr>
            <a:xfrm>
              <a:off x="7824425" y="3730750"/>
              <a:ext cx="114300" cy="0"/>
            </a:xfrm>
            <a:prstGeom prst="straightConnector1">
              <a:avLst/>
            </a:prstGeom>
            <a:noFill/>
            <a:ln cap="flat" cmpd="sng" w="82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27" name="Google Shape;227;p15"/>
          <p:cNvSpPr/>
          <p:nvPr/>
        </p:nvSpPr>
        <p:spPr>
          <a:xfrm>
            <a:off x="1182754" y="952956"/>
            <a:ext cx="1016400" cy="3414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82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7"/>
              <a:t>Power Distribution Unit (PDU)</a:t>
            </a:r>
            <a:endParaRPr sz="607"/>
          </a:p>
        </p:txBody>
      </p:sp>
      <p:cxnSp>
        <p:nvCxnSpPr>
          <p:cNvPr id="228" name="Google Shape;228;p15"/>
          <p:cNvCxnSpPr>
            <a:stCxn id="173" idx="0"/>
            <a:endCxn id="227" idx="2"/>
          </p:cNvCxnSpPr>
          <p:nvPr/>
        </p:nvCxnSpPr>
        <p:spPr>
          <a:xfrm rot="-5400000">
            <a:off x="1057980" y="1072404"/>
            <a:ext cx="411000" cy="8550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15"/>
          <p:cNvCxnSpPr>
            <a:stCxn id="174" idx="0"/>
            <a:endCxn id="227" idx="2"/>
          </p:cNvCxnSpPr>
          <p:nvPr/>
        </p:nvCxnSpPr>
        <p:spPr>
          <a:xfrm flipH="1" rot="5400000">
            <a:off x="1896180" y="1089204"/>
            <a:ext cx="411000" cy="8214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15"/>
          <p:cNvCxnSpPr/>
          <p:nvPr/>
        </p:nvCxnSpPr>
        <p:spPr>
          <a:xfrm>
            <a:off x="837999" y="1598573"/>
            <a:ext cx="0" cy="10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15"/>
          <p:cNvCxnSpPr/>
          <p:nvPr/>
        </p:nvCxnSpPr>
        <p:spPr>
          <a:xfrm>
            <a:off x="2517266" y="1603211"/>
            <a:ext cx="0" cy="10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15"/>
          <p:cNvSpPr txBox="1"/>
          <p:nvPr/>
        </p:nvSpPr>
        <p:spPr>
          <a:xfrm>
            <a:off x="4614680" y="663400"/>
            <a:ext cx="267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ROVER POWER ARCHITECTURE</a:t>
            </a:r>
            <a:endParaRPr sz="700"/>
          </a:p>
        </p:txBody>
      </p:sp>
      <p:sp>
        <p:nvSpPr>
          <p:cNvPr id="233" name="Google Shape;233;p15"/>
          <p:cNvSpPr txBox="1"/>
          <p:nvPr/>
        </p:nvSpPr>
        <p:spPr>
          <a:xfrm>
            <a:off x="5112200" y="1909530"/>
            <a:ext cx="33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12V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5112200" y="2459353"/>
            <a:ext cx="33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5V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5142300" y="3045873"/>
            <a:ext cx="33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24V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5196850" y="3632398"/>
            <a:ext cx="33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24V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6603000" y="3045875"/>
            <a:ext cx="47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3.3V, 5V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6602496" y="3601930"/>
            <a:ext cx="47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5V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6615227" y="2477598"/>
            <a:ext cx="47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5V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6615227" y="1846050"/>
            <a:ext cx="47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3.3V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5479500" y="1203700"/>
            <a:ext cx="11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15-40V (variable) 28 nominal)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5534032" y="4580813"/>
            <a:ext cx="11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Voltage, current, temp monitoring, fault reporting</a:t>
            </a:r>
            <a:endParaRPr b="1" sz="600">
              <a:solidFill>
                <a:srgbClr val="595959"/>
              </a:solidFill>
            </a:endParaRPr>
          </a:p>
        </p:txBody>
      </p:sp>
      <p:pic>
        <p:nvPicPr>
          <p:cNvPr id="243" name="Google Shape;243;p15" title="mars-rover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9282" y="103850"/>
            <a:ext cx="473100" cy="47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p15"/>
          <p:cNvCxnSpPr>
            <a:stCxn id="189" idx="2"/>
            <a:endCxn id="188" idx="0"/>
          </p:cNvCxnSpPr>
          <p:nvPr/>
        </p:nvCxnSpPr>
        <p:spPr>
          <a:xfrm flipH="1">
            <a:off x="2512442" y="3974429"/>
            <a:ext cx="2100" cy="22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15"/>
          <p:cNvCxnSpPr>
            <a:stCxn id="186" idx="2"/>
            <a:endCxn id="185" idx="0"/>
          </p:cNvCxnSpPr>
          <p:nvPr/>
        </p:nvCxnSpPr>
        <p:spPr>
          <a:xfrm flipH="1">
            <a:off x="833880" y="3964254"/>
            <a:ext cx="2100" cy="22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15"/>
          <p:cNvCxnSpPr>
            <a:stCxn id="173" idx="2"/>
            <a:endCxn id="186" idx="0"/>
          </p:cNvCxnSpPr>
          <p:nvPr/>
        </p:nvCxnSpPr>
        <p:spPr>
          <a:xfrm>
            <a:off x="835980" y="3115104"/>
            <a:ext cx="0" cy="51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15"/>
          <p:cNvCxnSpPr>
            <a:stCxn id="174" idx="2"/>
            <a:endCxn id="189" idx="0"/>
          </p:cNvCxnSpPr>
          <p:nvPr/>
        </p:nvCxnSpPr>
        <p:spPr>
          <a:xfrm>
            <a:off x="2512380" y="3115104"/>
            <a:ext cx="2100" cy="52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15"/>
          <p:cNvSpPr txBox="1"/>
          <p:nvPr/>
        </p:nvSpPr>
        <p:spPr>
          <a:xfrm>
            <a:off x="809397" y="3453782"/>
            <a:ext cx="18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UPLINK/DOWNLINK : ETHERNET/UART</a:t>
            </a:r>
            <a:endParaRPr b="1" sz="6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INTERNAL : SPI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1332201" y="3127275"/>
            <a:ext cx="790500" cy="333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STORAGE </a:t>
            </a:r>
            <a:endParaRPr sz="700"/>
          </a:p>
        </p:txBody>
      </p:sp>
      <p:cxnSp>
        <p:nvCxnSpPr>
          <p:cNvPr id="250" name="Google Shape;250;p15"/>
          <p:cNvCxnSpPr>
            <a:stCxn id="173" idx="2"/>
            <a:endCxn id="249" idx="1"/>
          </p:cNvCxnSpPr>
          <p:nvPr/>
        </p:nvCxnSpPr>
        <p:spPr>
          <a:xfrm flipH="1" rot="-5400000">
            <a:off x="994680" y="2956404"/>
            <a:ext cx="178800" cy="496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15"/>
          <p:cNvCxnSpPr>
            <a:stCxn id="249" idx="3"/>
            <a:endCxn id="174" idx="2"/>
          </p:cNvCxnSpPr>
          <p:nvPr/>
        </p:nvCxnSpPr>
        <p:spPr>
          <a:xfrm flipH="1" rot="10800000">
            <a:off x="2122701" y="3115125"/>
            <a:ext cx="389700" cy="178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15"/>
          <p:cNvSpPr txBox="1"/>
          <p:nvPr/>
        </p:nvSpPr>
        <p:spPr>
          <a:xfrm>
            <a:off x="809411" y="3116558"/>
            <a:ext cx="41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595959"/>
                </a:solidFill>
              </a:rPr>
              <a:t>I2C/SPI</a:t>
            </a:r>
            <a:endParaRPr b="1" sz="500">
              <a:solidFill>
                <a:srgbClr val="595959"/>
              </a:solidFill>
            </a:endParaRPr>
          </a:p>
        </p:txBody>
      </p:sp>
      <p:cxnSp>
        <p:nvCxnSpPr>
          <p:cNvPr id="253" name="Google Shape;253;p15"/>
          <p:cNvCxnSpPr/>
          <p:nvPr/>
        </p:nvCxnSpPr>
        <p:spPr>
          <a:xfrm flipH="1" rot="10800000">
            <a:off x="1740855" y="2360465"/>
            <a:ext cx="337800" cy="2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16"/>
          <p:cNvSpPr txBox="1"/>
          <p:nvPr/>
        </p:nvSpPr>
        <p:spPr>
          <a:xfrm>
            <a:off x="204950" y="89488"/>
            <a:ext cx="7490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83F04"/>
                </a:solidFill>
              </a:rPr>
              <a:t>SYSTEMS ARCHITECTURE - DRONE</a:t>
            </a:r>
            <a:endParaRPr b="1" sz="2400">
              <a:solidFill>
                <a:srgbClr val="C6432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64325"/>
              </a:solidFill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115650" y="4727132"/>
            <a:ext cx="2851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373D"/>
                </a:solidFill>
              </a:rPr>
              <a:t>TP UMBRELLA  -  MSS26</a:t>
            </a:r>
            <a:endParaRPr sz="1000">
              <a:solidFill>
                <a:srgbClr val="31373D"/>
              </a:solidFill>
            </a:endParaRPr>
          </a:p>
        </p:txBody>
      </p:sp>
      <p:pic>
        <p:nvPicPr>
          <p:cNvPr id="261" name="Google Shape;261;p16" title="ISU black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324" y="54426"/>
            <a:ext cx="1004249" cy="5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6"/>
          <p:cNvSpPr/>
          <p:nvPr/>
        </p:nvSpPr>
        <p:spPr>
          <a:xfrm>
            <a:off x="402630" y="1705404"/>
            <a:ext cx="866700" cy="1409700"/>
          </a:xfrm>
          <a:prstGeom prst="roundRect">
            <a:avLst>
              <a:gd fmla="val 16667" name="adj"/>
            </a:avLst>
          </a:prstGeom>
          <a:solidFill>
            <a:srgbClr val="DED9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GPU</a:t>
            </a:r>
            <a:endParaRPr/>
          </a:p>
        </p:txBody>
      </p:sp>
      <p:sp>
        <p:nvSpPr>
          <p:cNvPr id="263" name="Google Shape;263;p16"/>
          <p:cNvSpPr/>
          <p:nvPr/>
        </p:nvSpPr>
        <p:spPr>
          <a:xfrm>
            <a:off x="2079030" y="1705404"/>
            <a:ext cx="866700" cy="1409700"/>
          </a:xfrm>
          <a:prstGeom prst="roundRect">
            <a:avLst>
              <a:gd fmla="val 16667" name="adj"/>
            </a:avLst>
          </a:prstGeom>
          <a:solidFill>
            <a:srgbClr val="FFC6C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FC</a:t>
            </a:r>
            <a:endParaRPr/>
          </a:p>
        </p:txBody>
      </p:sp>
      <p:cxnSp>
        <p:nvCxnSpPr>
          <p:cNvPr id="264" name="Google Shape;264;p16"/>
          <p:cNvCxnSpPr/>
          <p:nvPr/>
        </p:nvCxnSpPr>
        <p:spPr>
          <a:xfrm rot="10800000">
            <a:off x="1263505" y="2002854"/>
            <a:ext cx="823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16"/>
          <p:cNvCxnSpPr/>
          <p:nvPr/>
        </p:nvCxnSpPr>
        <p:spPr>
          <a:xfrm rot="10800000">
            <a:off x="1263505" y="2183829"/>
            <a:ext cx="823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16"/>
          <p:cNvCxnSpPr/>
          <p:nvPr/>
        </p:nvCxnSpPr>
        <p:spPr>
          <a:xfrm rot="10800000">
            <a:off x="1263505" y="2536254"/>
            <a:ext cx="823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16"/>
          <p:cNvCxnSpPr/>
          <p:nvPr/>
        </p:nvCxnSpPr>
        <p:spPr>
          <a:xfrm>
            <a:off x="1282430" y="2774379"/>
            <a:ext cx="790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p16"/>
          <p:cNvSpPr txBox="1"/>
          <p:nvPr/>
        </p:nvSpPr>
        <p:spPr>
          <a:xfrm>
            <a:off x="1257605" y="1764054"/>
            <a:ext cx="866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ADCS DATA (IMU)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1286180" y="1992654"/>
            <a:ext cx="100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LIDAR DATA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1308067" y="2185425"/>
            <a:ext cx="866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THP DATA LOOP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1414155" y="2345416"/>
            <a:ext cx="653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EPS DATA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1242705" y="2573679"/>
            <a:ext cx="790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COMMANDS 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400430" y="4193604"/>
            <a:ext cx="866700" cy="333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ANTENNA</a:t>
            </a:r>
            <a:endParaRPr sz="700"/>
          </a:p>
        </p:txBody>
      </p:sp>
      <p:sp>
        <p:nvSpPr>
          <p:cNvPr id="274" name="Google Shape;274;p16"/>
          <p:cNvSpPr/>
          <p:nvPr/>
        </p:nvSpPr>
        <p:spPr>
          <a:xfrm>
            <a:off x="402630" y="3630954"/>
            <a:ext cx="866700" cy="333300"/>
          </a:xfrm>
          <a:prstGeom prst="rect">
            <a:avLst/>
          </a:prstGeom>
          <a:solidFill>
            <a:srgbClr val="FBF9F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RF MODEM</a:t>
            </a:r>
            <a:endParaRPr sz="700"/>
          </a:p>
        </p:txBody>
      </p:sp>
      <p:cxnSp>
        <p:nvCxnSpPr>
          <p:cNvPr id="275" name="Google Shape;275;p16"/>
          <p:cNvCxnSpPr>
            <a:stCxn id="273" idx="0"/>
            <a:endCxn id="274" idx="2"/>
          </p:cNvCxnSpPr>
          <p:nvPr/>
        </p:nvCxnSpPr>
        <p:spPr>
          <a:xfrm flipH="1" rot="10800000">
            <a:off x="833780" y="3964404"/>
            <a:ext cx="2100" cy="229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16"/>
          <p:cNvSpPr/>
          <p:nvPr/>
        </p:nvSpPr>
        <p:spPr>
          <a:xfrm>
            <a:off x="2078992" y="4203779"/>
            <a:ext cx="866700" cy="333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ANTENNA</a:t>
            </a:r>
            <a:endParaRPr sz="700"/>
          </a:p>
        </p:txBody>
      </p:sp>
      <p:sp>
        <p:nvSpPr>
          <p:cNvPr id="277" name="Google Shape;277;p16"/>
          <p:cNvSpPr/>
          <p:nvPr/>
        </p:nvSpPr>
        <p:spPr>
          <a:xfrm>
            <a:off x="2081192" y="3641129"/>
            <a:ext cx="866700" cy="333300"/>
          </a:xfrm>
          <a:prstGeom prst="rect">
            <a:avLst/>
          </a:prstGeom>
          <a:solidFill>
            <a:srgbClr val="FBF9F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RF MODEM</a:t>
            </a:r>
            <a:endParaRPr sz="700"/>
          </a:p>
        </p:txBody>
      </p:sp>
      <p:cxnSp>
        <p:nvCxnSpPr>
          <p:cNvPr id="278" name="Google Shape;278;p16"/>
          <p:cNvCxnSpPr>
            <a:stCxn id="276" idx="0"/>
            <a:endCxn id="277" idx="2"/>
          </p:cNvCxnSpPr>
          <p:nvPr/>
        </p:nvCxnSpPr>
        <p:spPr>
          <a:xfrm flipH="1" rot="10800000">
            <a:off x="2512342" y="3974579"/>
            <a:ext cx="2100" cy="229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16"/>
          <p:cNvCxnSpPr>
            <a:stCxn id="274" idx="0"/>
            <a:endCxn id="262" idx="2"/>
          </p:cNvCxnSpPr>
          <p:nvPr/>
        </p:nvCxnSpPr>
        <p:spPr>
          <a:xfrm rot="10800000">
            <a:off x="835980" y="3114954"/>
            <a:ext cx="0" cy="51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" name="Google Shape;280;p16"/>
          <p:cNvCxnSpPr>
            <a:stCxn id="277" idx="0"/>
            <a:endCxn id="263" idx="2"/>
          </p:cNvCxnSpPr>
          <p:nvPr/>
        </p:nvCxnSpPr>
        <p:spPr>
          <a:xfrm rot="10800000">
            <a:off x="2512442" y="3115229"/>
            <a:ext cx="2100" cy="52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" name="Google Shape;281;p16"/>
          <p:cNvSpPr txBox="1"/>
          <p:nvPr/>
        </p:nvSpPr>
        <p:spPr>
          <a:xfrm>
            <a:off x="346080" y="616550"/>
            <a:ext cx="267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OBDH SYSTEM ARCHITECTURE</a:t>
            </a:r>
            <a:endParaRPr sz="700"/>
          </a:p>
        </p:txBody>
      </p:sp>
      <p:sp>
        <p:nvSpPr>
          <p:cNvPr id="282" name="Google Shape;282;p16"/>
          <p:cNvSpPr/>
          <p:nvPr/>
        </p:nvSpPr>
        <p:spPr>
          <a:xfrm>
            <a:off x="1182754" y="952956"/>
            <a:ext cx="1016400" cy="3414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 cap="flat" cmpd="sng" w="82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7"/>
              <a:t>Power Distribution Unit (PDU)</a:t>
            </a:r>
            <a:endParaRPr sz="607"/>
          </a:p>
        </p:txBody>
      </p:sp>
      <p:cxnSp>
        <p:nvCxnSpPr>
          <p:cNvPr id="283" name="Google Shape;283;p16"/>
          <p:cNvCxnSpPr>
            <a:stCxn id="262" idx="0"/>
            <a:endCxn id="282" idx="2"/>
          </p:cNvCxnSpPr>
          <p:nvPr/>
        </p:nvCxnSpPr>
        <p:spPr>
          <a:xfrm rot="-5400000">
            <a:off x="1057980" y="1072404"/>
            <a:ext cx="411000" cy="8550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16"/>
          <p:cNvCxnSpPr>
            <a:stCxn id="263" idx="0"/>
            <a:endCxn id="282" idx="2"/>
          </p:cNvCxnSpPr>
          <p:nvPr/>
        </p:nvCxnSpPr>
        <p:spPr>
          <a:xfrm flipH="1" rot="5400000">
            <a:off x="1896180" y="1089204"/>
            <a:ext cx="411000" cy="8214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16"/>
          <p:cNvCxnSpPr/>
          <p:nvPr/>
        </p:nvCxnSpPr>
        <p:spPr>
          <a:xfrm>
            <a:off x="837999" y="1598573"/>
            <a:ext cx="0" cy="10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16"/>
          <p:cNvCxnSpPr/>
          <p:nvPr/>
        </p:nvCxnSpPr>
        <p:spPr>
          <a:xfrm>
            <a:off x="2517266" y="1603211"/>
            <a:ext cx="0" cy="10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p16"/>
          <p:cNvSpPr txBox="1"/>
          <p:nvPr/>
        </p:nvSpPr>
        <p:spPr>
          <a:xfrm>
            <a:off x="4614680" y="663400"/>
            <a:ext cx="267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DRONE POWER ARCHITECTURE</a:t>
            </a:r>
            <a:endParaRPr sz="700"/>
          </a:p>
        </p:txBody>
      </p:sp>
      <p:grpSp>
        <p:nvGrpSpPr>
          <p:cNvPr id="288" name="Google Shape;288;p16"/>
          <p:cNvGrpSpPr/>
          <p:nvPr/>
        </p:nvGrpSpPr>
        <p:grpSpPr>
          <a:xfrm>
            <a:off x="4010724" y="1257721"/>
            <a:ext cx="4154937" cy="3416888"/>
            <a:chOff x="1819275" y="1000125"/>
            <a:chExt cx="4771950" cy="3924300"/>
          </a:xfrm>
        </p:grpSpPr>
        <p:sp>
          <p:nvSpPr>
            <p:cNvPr id="289" name="Google Shape;289;p16"/>
            <p:cNvSpPr/>
            <p:nvPr/>
          </p:nvSpPr>
          <p:spPr>
            <a:xfrm>
              <a:off x="3629025" y="2408300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C27BA0"/>
            </a:solidFill>
            <a:ln cap="flat" cmpd="sng" w="83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625" lIns="79625" spcFirstLastPara="1" rIns="79625" wrap="square" tIns="7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10"/>
                <a:t>Power Distribution Unit (PDU)</a:t>
              </a:r>
              <a:endParaRPr sz="610"/>
            </a:p>
          </p:txBody>
        </p:sp>
        <p:sp>
          <p:nvSpPr>
            <p:cNvPr id="290" name="Google Shape;290;p16"/>
            <p:cNvSpPr/>
            <p:nvPr/>
          </p:nvSpPr>
          <p:spPr>
            <a:xfrm>
              <a:off x="4714875" y="1000125"/>
              <a:ext cx="1114500" cy="393600"/>
            </a:xfrm>
            <a:prstGeom prst="roundRect">
              <a:avLst>
                <a:gd fmla="val 16667" name="adj"/>
              </a:avLst>
            </a:prstGeom>
            <a:solidFill>
              <a:srgbClr val="EFCAC8"/>
            </a:solidFill>
            <a:ln cap="flat" cmpd="sng" w="83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625" lIns="79625" spcFirstLastPara="1" rIns="79625" wrap="square" tIns="7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10"/>
                <a:t>High Discharge Li-ion Battery Bank (4s)</a:t>
              </a:r>
              <a:endParaRPr sz="610"/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2457525" y="1000125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EFCAC8"/>
            </a:solidFill>
            <a:ln cap="flat" cmpd="sng" w="83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625" lIns="79625" spcFirstLastPara="1" rIns="79625" wrap="square" tIns="7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10"/>
                <a:t>Triple-Junction GAS Solar Array</a:t>
              </a:r>
              <a:endParaRPr sz="610"/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1819275" y="1771650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DDD9FC"/>
            </a:solidFill>
            <a:ln cap="flat" cmpd="sng" w="83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625" lIns="79625" spcFirstLastPara="1" rIns="79625" wrap="square" tIns="7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10"/>
                <a:t>LiDAR</a:t>
              </a:r>
              <a:endParaRPr sz="610"/>
            </a:p>
          </p:txBody>
        </p:sp>
        <p:sp>
          <p:nvSpPr>
            <p:cNvPr id="293" name="Google Shape;293;p16"/>
            <p:cNvSpPr/>
            <p:nvPr/>
          </p:nvSpPr>
          <p:spPr>
            <a:xfrm>
              <a:off x="1819275" y="2400300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DCD9F9"/>
            </a:solidFill>
            <a:ln cap="flat" cmpd="sng" w="83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625" lIns="79625" spcFirstLastPara="1" rIns="79625" wrap="square" tIns="7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10"/>
                <a:t>Nav Cam</a:t>
              </a:r>
              <a:endParaRPr sz="610"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1819275" y="3086100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F6C8C7"/>
            </a:solidFill>
            <a:ln cap="flat" cmpd="sng" w="83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625" lIns="79625" spcFirstLastPara="1" rIns="79625" wrap="square" tIns="7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10"/>
                <a:t>Micro-Actuators</a:t>
              </a:r>
              <a:endParaRPr sz="610"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1819275" y="3743325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8FB5D0"/>
            </a:solidFill>
            <a:ln cap="flat" cmpd="sng" w="83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625" lIns="79625" spcFirstLastPara="1" rIns="79625" wrap="square" tIns="7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10"/>
                <a:t>Locomotion Motors</a:t>
              </a:r>
              <a:endParaRPr sz="610"/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5419725" y="2419350"/>
              <a:ext cx="1171500" cy="393600"/>
            </a:xfrm>
            <a:prstGeom prst="roundRect">
              <a:avLst>
                <a:gd fmla="val 16667" name="adj"/>
              </a:avLst>
            </a:prstGeom>
            <a:solidFill>
              <a:srgbClr val="F6C8C7"/>
            </a:solidFill>
            <a:ln cap="flat" cmpd="sng" w="83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625" lIns="79625" spcFirstLastPara="1" rIns="79625" wrap="square" tIns="7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10"/>
                <a:t>Proximity Sensors Module</a:t>
              </a:r>
              <a:endParaRPr sz="610"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5419725" y="2990850"/>
              <a:ext cx="1171500" cy="546300"/>
            </a:xfrm>
            <a:prstGeom prst="roundRect">
              <a:avLst>
                <a:gd fmla="val 7251" name="adj"/>
              </a:avLst>
            </a:prstGeom>
            <a:solidFill>
              <a:srgbClr val="FFC6C6"/>
            </a:solidFill>
            <a:ln cap="flat" cmpd="sng" w="83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625" lIns="79625" spcFirstLastPara="1" rIns="79625" wrap="square" tIns="7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1"/>
                <a:t>FC</a:t>
              </a:r>
              <a:endParaRPr sz="871"/>
            </a:p>
          </p:txBody>
        </p:sp>
        <p:cxnSp>
          <p:nvCxnSpPr>
            <p:cNvPr id="298" name="Google Shape;298;p16"/>
            <p:cNvCxnSpPr>
              <a:stCxn id="291" idx="3"/>
            </p:cNvCxnSpPr>
            <p:nvPr/>
          </p:nvCxnSpPr>
          <p:spPr>
            <a:xfrm>
              <a:off x="3629025" y="1196925"/>
              <a:ext cx="285900" cy="1212900"/>
            </a:xfrm>
            <a:prstGeom prst="bentConnector2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6"/>
            <p:cNvCxnSpPr>
              <a:stCxn id="290" idx="1"/>
            </p:cNvCxnSpPr>
            <p:nvPr/>
          </p:nvCxnSpPr>
          <p:spPr>
            <a:xfrm flipH="1">
              <a:off x="4457775" y="1196925"/>
              <a:ext cx="257100" cy="1212900"/>
            </a:xfrm>
            <a:prstGeom prst="bentConnector2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0" name="Google Shape;300;p16"/>
            <p:cNvSpPr/>
            <p:nvPr/>
          </p:nvSpPr>
          <p:spPr>
            <a:xfrm>
              <a:off x="3476625" y="4619625"/>
              <a:ext cx="1476300" cy="3048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83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625" lIns="79625" spcFirstLastPara="1" rIns="79625" wrap="square" tIns="7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84"/>
                <a:t>PDU Logic &amp; Telemetry</a:t>
              </a:r>
              <a:endParaRPr sz="784"/>
            </a:p>
          </p:txBody>
        </p:sp>
        <p:cxnSp>
          <p:nvCxnSpPr>
            <p:cNvPr id="301" name="Google Shape;301;p16"/>
            <p:cNvCxnSpPr/>
            <p:nvPr/>
          </p:nvCxnSpPr>
          <p:spPr>
            <a:xfrm>
              <a:off x="3914775" y="2209800"/>
              <a:ext cx="0" cy="200100"/>
            </a:xfrm>
            <a:prstGeom prst="straightConnector1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2" name="Google Shape;302;p16"/>
            <p:cNvCxnSpPr/>
            <p:nvPr/>
          </p:nvCxnSpPr>
          <p:spPr>
            <a:xfrm>
              <a:off x="4457700" y="2209800"/>
              <a:ext cx="0" cy="200100"/>
            </a:xfrm>
            <a:prstGeom prst="straightConnector1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3" name="Google Shape;303;p16"/>
            <p:cNvSpPr/>
            <p:nvPr/>
          </p:nvSpPr>
          <p:spPr>
            <a:xfrm>
              <a:off x="5419725" y="3648075"/>
              <a:ext cx="1171500" cy="546300"/>
            </a:xfrm>
            <a:prstGeom prst="roundRect">
              <a:avLst>
                <a:gd fmla="val 7251" name="adj"/>
              </a:avLst>
            </a:prstGeom>
            <a:solidFill>
              <a:srgbClr val="DED9FF"/>
            </a:solidFill>
            <a:ln cap="flat" cmpd="sng" w="83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625" lIns="79625" spcFirstLastPara="1" rIns="79625" wrap="square" tIns="79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1"/>
                <a:t>GPU</a:t>
              </a:r>
              <a:endParaRPr sz="871"/>
            </a:p>
          </p:txBody>
        </p:sp>
        <p:cxnSp>
          <p:nvCxnSpPr>
            <p:cNvPr id="304" name="Google Shape;304;p16"/>
            <p:cNvCxnSpPr/>
            <p:nvPr/>
          </p:nvCxnSpPr>
          <p:spPr>
            <a:xfrm>
              <a:off x="4214775" y="2801900"/>
              <a:ext cx="0" cy="1817700"/>
            </a:xfrm>
            <a:prstGeom prst="straightConnector1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5" name="Google Shape;305;p16"/>
            <p:cNvCxnSpPr/>
            <p:nvPr/>
          </p:nvCxnSpPr>
          <p:spPr>
            <a:xfrm rot="10800000">
              <a:off x="4214775" y="2792375"/>
              <a:ext cx="3000" cy="160500"/>
            </a:xfrm>
            <a:prstGeom prst="straightConnector1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6" name="Google Shape;306;p16"/>
            <p:cNvCxnSpPr>
              <a:endCxn id="295" idx="3"/>
            </p:cNvCxnSpPr>
            <p:nvPr/>
          </p:nvCxnSpPr>
          <p:spPr>
            <a:xfrm rot="5400000">
              <a:off x="2911875" y="2879325"/>
              <a:ext cx="1139700" cy="981900"/>
            </a:xfrm>
            <a:prstGeom prst="bentConnector2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7" name="Google Shape;307;p16"/>
            <p:cNvCxnSpPr>
              <a:endCxn id="294" idx="3"/>
            </p:cNvCxnSpPr>
            <p:nvPr/>
          </p:nvCxnSpPr>
          <p:spPr>
            <a:xfrm flipH="1">
              <a:off x="2990775" y="2800500"/>
              <a:ext cx="820200" cy="482400"/>
            </a:xfrm>
            <a:prstGeom prst="bentConnector3">
              <a:avLst>
                <a:gd fmla="val 587" name="adj1"/>
              </a:avLst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8" name="Google Shape;308;p16"/>
            <p:cNvCxnSpPr>
              <a:endCxn id="292" idx="3"/>
            </p:cNvCxnSpPr>
            <p:nvPr/>
          </p:nvCxnSpPr>
          <p:spPr>
            <a:xfrm rot="10800000">
              <a:off x="2990775" y="1968450"/>
              <a:ext cx="782100" cy="432000"/>
            </a:xfrm>
            <a:prstGeom prst="bentConnector3">
              <a:avLst>
                <a:gd fmla="val -183" name="adj1"/>
              </a:avLst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9" name="Google Shape;309;p16"/>
            <p:cNvCxnSpPr>
              <a:stCxn id="289" idx="1"/>
              <a:endCxn id="293" idx="3"/>
            </p:cNvCxnSpPr>
            <p:nvPr/>
          </p:nvCxnSpPr>
          <p:spPr>
            <a:xfrm rot="10800000">
              <a:off x="2990925" y="2597000"/>
              <a:ext cx="638100" cy="8100"/>
            </a:xfrm>
            <a:prstGeom prst="straightConnector1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0" name="Google Shape;310;p16"/>
            <p:cNvCxnSpPr/>
            <p:nvPr/>
          </p:nvCxnSpPr>
          <p:spPr>
            <a:xfrm rot="10800000">
              <a:off x="2982125" y="1971725"/>
              <a:ext cx="123900" cy="0"/>
            </a:xfrm>
            <a:prstGeom prst="straightConnector1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1" name="Google Shape;311;p16"/>
            <p:cNvCxnSpPr/>
            <p:nvPr/>
          </p:nvCxnSpPr>
          <p:spPr>
            <a:xfrm rot="10800000">
              <a:off x="2982125" y="3286175"/>
              <a:ext cx="123900" cy="0"/>
            </a:xfrm>
            <a:prstGeom prst="straightConnector1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2" name="Google Shape;312;p16"/>
            <p:cNvCxnSpPr/>
            <p:nvPr/>
          </p:nvCxnSpPr>
          <p:spPr>
            <a:xfrm rot="10800000">
              <a:off x="2982125" y="3943400"/>
              <a:ext cx="123900" cy="0"/>
            </a:xfrm>
            <a:prstGeom prst="straightConnector1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3" name="Google Shape;313;p16"/>
            <p:cNvCxnSpPr>
              <a:stCxn id="289" idx="3"/>
            </p:cNvCxnSpPr>
            <p:nvPr/>
          </p:nvCxnSpPr>
          <p:spPr>
            <a:xfrm>
              <a:off x="4800525" y="2605100"/>
              <a:ext cx="619200" cy="1500"/>
            </a:xfrm>
            <a:prstGeom prst="straightConnector1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4" name="Google Shape;314;p16"/>
            <p:cNvCxnSpPr>
              <a:endCxn id="297" idx="1"/>
            </p:cNvCxnSpPr>
            <p:nvPr/>
          </p:nvCxnSpPr>
          <p:spPr>
            <a:xfrm>
              <a:off x="4677525" y="2791800"/>
              <a:ext cx="742200" cy="472200"/>
            </a:xfrm>
            <a:prstGeom prst="bentConnector3">
              <a:avLst>
                <a:gd fmla="val 602" name="adj1"/>
              </a:avLst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5" name="Google Shape;315;p16"/>
            <p:cNvCxnSpPr>
              <a:endCxn id="303" idx="1"/>
            </p:cNvCxnSpPr>
            <p:nvPr/>
          </p:nvCxnSpPr>
          <p:spPr>
            <a:xfrm flipH="1" rot="-5400000">
              <a:off x="4398225" y="2899725"/>
              <a:ext cx="1129500" cy="913500"/>
            </a:xfrm>
            <a:prstGeom prst="bentConnector2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6" name="Google Shape;316;p16"/>
            <p:cNvCxnSpPr/>
            <p:nvPr/>
          </p:nvCxnSpPr>
          <p:spPr>
            <a:xfrm>
              <a:off x="5315825" y="3268850"/>
              <a:ext cx="114300" cy="0"/>
            </a:xfrm>
            <a:prstGeom prst="straightConnector1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7" name="Google Shape;317;p16"/>
            <p:cNvCxnSpPr/>
            <p:nvPr/>
          </p:nvCxnSpPr>
          <p:spPr>
            <a:xfrm>
              <a:off x="5315825" y="3926075"/>
              <a:ext cx="114300" cy="0"/>
            </a:xfrm>
            <a:prstGeom prst="straightConnector1">
              <a:avLst/>
            </a:prstGeom>
            <a:noFill/>
            <a:ln cap="flat" cmpd="sng" w="8300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18" name="Google Shape;318;p16"/>
          <p:cNvSpPr txBox="1"/>
          <p:nvPr/>
        </p:nvSpPr>
        <p:spPr>
          <a:xfrm>
            <a:off x="5112200" y="1909525"/>
            <a:ext cx="41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5-12V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319" name="Google Shape;319;p16"/>
          <p:cNvSpPr txBox="1"/>
          <p:nvPr/>
        </p:nvSpPr>
        <p:spPr>
          <a:xfrm>
            <a:off x="5123936" y="2451648"/>
            <a:ext cx="41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5V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320" name="Google Shape;320;p16"/>
          <p:cNvSpPr txBox="1"/>
          <p:nvPr/>
        </p:nvSpPr>
        <p:spPr>
          <a:xfrm>
            <a:off x="5142279" y="3060202"/>
            <a:ext cx="41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24V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6646311" y="2451648"/>
            <a:ext cx="41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5V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6694736" y="3019923"/>
            <a:ext cx="41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3.3V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323" name="Google Shape;323;p16"/>
          <p:cNvSpPr txBox="1"/>
          <p:nvPr/>
        </p:nvSpPr>
        <p:spPr>
          <a:xfrm>
            <a:off x="6646311" y="3600430"/>
            <a:ext cx="41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5V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324" name="Google Shape;324;p16"/>
          <p:cNvSpPr txBox="1"/>
          <p:nvPr/>
        </p:nvSpPr>
        <p:spPr>
          <a:xfrm>
            <a:off x="5233504" y="3618775"/>
            <a:ext cx="41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24V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325" name="Google Shape;325;p16"/>
          <p:cNvSpPr txBox="1"/>
          <p:nvPr/>
        </p:nvSpPr>
        <p:spPr>
          <a:xfrm>
            <a:off x="5549756" y="4601593"/>
            <a:ext cx="11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Voltage, current, temp monitoring, fault reporting</a:t>
            </a:r>
            <a:endParaRPr b="1" sz="600">
              <a:solidFill>
                <a:srgbClr val="595959"/>
              </a:solidFill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5479500" y="1173120"/>
            <a:ext cx="11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15-40V (variable) 166 nominal)</a:t>
            </a:r>
            <a:endParaRPr b="1" sz="600">
              <a:solidFill>
                <a:srgbClr val="595959"/>
              </a:solidFill>
            </a:endParaRPr>
          </a:p>
        </p:txBody>
      </p:sp>
      <p:cxnSp>
        <p:nvCxnSpPr>
          <p:cNvPr id="327" name="Google Shape;327;p16"/>
          <p:cNvCxnSpPr/>
          <p:nvPr/>
        </p:nvCxnSpPr>
        <p:spPr>
          <a:xfrm flipH="1" rot="10800000">
            <a:off x="1275024" y="2377243"/>
            <a:ext cx="804600" cy="8700"/>
          </a:xfrm>
          <a:prstGeom prst="straightConnector1">
            <a:avLst/>
          </a:prstGeom>
          <a:noFill/>
          <a:ln cap="flat" cmpd="sng" w="83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p16"/>
          <p:cNvCxnSpPr/>
          <p:nvPr/>
        </p:nvCxnSpPr>
        <p:spPr>
          <a:xfrm rot="10800000">
            <a:off x="1264980" y="2386000"/>
            <a:ext cx="30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29" name="Google Shape;329;p16" title="helicopt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1975" y="89500"/>
            <a:ext cx="516000" cy="51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0" name="Google Shape;330;p16"/>
          <p:cNvCxnSpPr>
            <a:stCxn id="262" idx="2"/>
            <a:endCxn id="274" idx="0"/>
          </p:cNvCxnSpPr>
          <p:nvPr/>
        </p:nvCxnSpPr>
        <p:spPr>
          <a:xfrm>
            <a:off x="835980" y="3115104"/>
            <a:ext cx="0" cy="51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16"/>
          <p:cNvCxnSpPr>
            <a:stCxn id="263" idx="2"/>
            <a:endCxn id="277" idx="0"/>
          </p:cNvCxnSpPr>
          <p:nvPr/>
        </p:nvCxnSpPr>
        <p:spPr>
          <a:xfrm>
            <a:off x="2512380" y="3115104"/>
            <a:ext cx="2100" cy="52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16"/>
          <p:cNvCxnSpPr>
            <a:stCxn id="277" idx="2"/>
            <a:endCxn id="276" idx="0"/>
          </p:cNvCxnSpPr>
          <p:nvPr/>
        </p:nvCxnSpPr>
        <p:spPr>
          <a:xfrm flipH="1">
            <a:off x="2512442" y="3974429"/>
            <a:ext cx="2100" cy="22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16"/>
          <p:cNvCxnSpPr>
            <a:stCxn id="274" idx="2"/>
            <a:endCxn id="273" idx="0"/>
          </p:cNvCxnSpPr>
          <p:nvPr/>
        </p:nvCxnSpPr>
        <p:spPr>
          <a:xfrm flipH="1">
            <a:off x="833880" y="3964254"/>
            <a:ext cx="2100" cy="229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" name="Google Shape;334;p16"/>
          <p:cNvSpPr/>
          <p:nvPr/>
        </p:nvSpPr>
        <p:spPr>
          <a:xfrm>
            <a:off x="1321929" y="3127277"/>
            <a:ext cx="866700" cy="333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STORAGE</a:t>
            </a:r>
            <a:endParaRPr sz="700"/>
          </a:p>
        </p:txBody>
      </p:sp>
      <p:cxnSp>
        <p:nvCxnSpPr>
          <p:cNvPr id="335" name="Google Shape;335;p16"/>
          <p:cNvCxnSpPr>
            <a:stCxn id="262" idx="2"/>
            <a:endCxn id="334" idx="1"/>
          </p:cNvCxnSpPr>
          <p:nvPr/>
        </p:nvCxnSpPr>
        <p:spPr>
          <a:xfrm flipH="1" rot="-5400000">
            <a:off x="989580" y="2961504"/>
            <a:ext cx="178800" cy="486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16"/>
          <p:cNvCxnSpPr>
            <a:stCxn id="334" idx="3"/>
            <a:endCxn id="263" idx="2"/>
          </p:cNvCxnSpPr>
          <p:nvPr/>
        </p:nvCxnSpPr>
        <p:spPr>
          <a:xfrm flipH="1" rot="10800000">
            <a:off x="2188629" y="3115127"/>
            <a:ext cx="323700" cy="178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16"/>
          <p:cNvSpPr txBox="1"/>
          <p:nvPr/>
        </p:nvSpPr>
        <p:spPr>
          <a:xfrm>
            <a:off x="904070" y="3116558"/>
            <a:ext cx="41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595959"/>
                </a:solidFill>
              </a:rPr>
              <a:t>I2C/SPI</a:t>
            </a:r>
            <a:endParaRPr b="1" sz="500">
              <a:solidFill>
                <a:srgbClr val="595959"/>
              </a:solidFill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803481" y="3430118"/>
            <a:ext cx="180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UPLINK/DOWNLINK : ETHERNET/UART</a:t>
            </a:r>
            <a:endParaRPr b="1" sz="6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595959"/>
                </a:solidFill>
              </a:rPr>
              <a:t>INTERNAL : SPI</a:t>
            </a:r>
            <a:endParaRPr b="1" sz="6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17"/>
          <p:cNvSpPr txBox="1"/>
          <p:nvPr/>
        </p:nvSpPr>
        <p:spPr>
          <a:xfrm>
            <a:off x="322250" y="89488"/>
            <a:ext cx="7490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83F04"/>
                </a:solidFill>
              </a:rPr>
              <a:t>SYSTEMS ARCHITECTURE - COMMUNICATIONS</a:t>
            </a:r>
            <a:endParaRPr b="1" sz="2400">
              <a:solidFill>
                <a:srgbClr val="C64325"/>
              </a:solidFill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115650" y="4727132"/>
            <a:ext cx="28515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373D"/>
                </a:solidFill>
              </a:rPr>
              <a:t>TP UMBRELLA  -  MSS26</a:t>
            </a:r>
            <a:endParaRPr sz="1000">
              <a:solidFill>
                <a:srgbClr val="31373D"/>
              </a:solidFill>
            </a:endParaRPr>
          </a:p>
        </p:txBody>
      </p:sp>
      <p:pic>
        <p:nvPicPr>
          <p:cNvPr id="346" name="Google Shape;346;p17" title="ISU black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324" y="54426"/>
            <a:ext cx="1004249" cy="5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7"/>
          <p:cNvSpPr/>
          <p:nvPr/>
        </p:nvSpPr>
        <p:spPr>
          <a:xfrm>
            <a:off x="2193180" y="1183228"/>
            <a:ext cx="936000" cy="1367400"/>
          </a:xfrm>
          <a:prstGeom prst="roundRect">
            <a:avLst>
              <a:gd fmla="val 7081" name="adj"/>
            </a:avLst>
          </a:prstGeom>
          <a:solidFill>
            <a:srgbClr val="FBF9F1"/>
          </a:solidFill>
          <a:ln cap="flat" cmpd="sng" w="76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9"/>
          </a:p>
        </p:txBody>
      </p:sp>
      <p:sp>
        <p:nvSpPr>
          <p:cNvPr id="348" name="Google Shape;348;p17"/>
          <p:cNvSpPr/>
          <p:nvPr/>
        </p:nvSpPr>
        <p:spPr>
          <a:xfrm>
            <a:off x="3632624" y="1285636"/>
            <a:ext cx="936000" cy="3144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76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/>
              <a:t>GPU / AI Accelerator</a:t>
            </a:r>
            <a:endParaRPr sz="559"/>
          </a:p>
        </p:txBody>
      </p:sp>
      <p:sp>
        <p:nvSpPr>
          <p:cNvPr id="349" name="Google Shape;349;p17"/>
          <p:cNvSpPr/>
          <p:nvPr/>
        </p:nvSpPr>
        <p:spPr>
          <a:xfrm>
            <a:off x="703885" y="923647"/>
            <a:ext cx="936000" cy="969000"/>
          </a:xfrm>
          <a:prstGeom prst="roundRect">
            <a:avLst>
              <a:gd fmla="val 6983" name="adj"/>
            </a:avLst>
          </a:prstGeom>
          <a:solidFill>
            <a:srgbClr val="FBF9F1"/>
          </a:solidFill>
          <a:ln cap="flat" cmpd="sng" w="76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9"/>
          </a:p>
        </p:txBody>
      </p:sp>
      <p:sp>
        <p:nvSpPr>
          <p:cNvPr id="350" name="Google Shape;350;p17"/>
          <p:cNvSpPr/>
          <p:nvPr/>
        </p:nvSpPr>
        <p:spPr>
          <a:xfrm>
            <a:off x="691119" y="1973745"/>
            <a:ext cx="936000" cy="573300"/>
          </a:xfrm>
          <a:prstGeom prst="roundRect">
            <a:avLst>
              <a:gd fmla="val 11189" name="adj"/>
            </a:avLst>
          </a:prstGeom>
          <a:solidFill>
            <a:srgbClr val="FBF9F1"/>
          </a:solidFill>
          <a:ln cap="flat" cmpd="sng" w="76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9"/>
          </a:p>
        </p:txBody>
      </p:sp>
      <p:sp>
        <p:nvSpPr>
          <p:cNvPr id="351" name="Google Shape;351;p17"/>
          <p:cNvSpPr/>
          <p:nvPr/>
        </p:nvSpPr>
        <p:spPr>
          <a:xfrm>
            <a:off x="679433" y="2679671"/>
            <a:ext cx="936000" cy="969000"/>
          </a:xfrm>
          <a:prstGeom prst="roundRect">
            <a:avLst>
              <a:gd fmla="val 4003" name="adj"/>
            </a:avLst>
          </a:prstGeom>
          <a:solidFill>
            <a:srgbClr val="FBF9F1"/>
          </a:solidFill>
          <a:ln cap="flat" cmpd="sng" w="76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9"/>
          </a:p>
        </p:txBody>
      </p:sp>
      <p:sp>
        <p:nvSpPr>
          <p:cNvPr id="352" name="Google Shape;352;p17"/>
          <p:cNvSpPr/>
          <p:nvPr/>
        </p:nvSpPr>
        <p:spPr>
          <a:xfrm>
            <a:off x="724653" y="3253721"/>
            <a:ext cx="829200" cy="347400"/>
          </a:xfrm>
          <a:prstGeom prst="roundRect">
            <a:avLst>
              <a:gd fmla="val 1018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1"/>
              <a:t>Geophone analog front-end + ADC Local DSP / FPGA</a:t>
            </a:r>
            <a:endParaRPr sz="601"/>
          </a:p>
        </p:txBody>
      </p:sp>
      <p:sp>
        <p:nvSpPr>
          <p:cNvPr id="353" name="Google Shape;353;p17"/>
          <p:cNvSpPr/>
          <p:nvPr/>
        </p:nvSpPr>
        <p:spPr>
          <a:xfrm>
            <a:off x="3524964" y="2965858"/>
            <a:ext cx="936000" cy="902400"/>
          </a:xfrm>
          <a:prstGeom prst="roundRect">
            <a:avLst>
              <a:gd fmla="val 4863" name="adj"/>
            </a:avLst>
          </a:prstGeom>
          <a:solidFill>
            <a:srgbClr val="FBF9F1"/>
          </a:solidFill>
          <a:ln cap="flat" cmpd="sng" w="76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9"/>
          </a:p>
        </p:txBody>
      </p:sp>
      <p:sp>
        <p:nvSpPr>
          <p:cNvPr id="354" name="Google Shape;354;p17"/>
          <p:cNvSpPr/>
          <p:nvPr/>
        </p:nvSpPr>
        <p:spPr>
          <a:xfrm>
            <a:off x="2138417" y="2978565"/>
            <a:ext cx="1085700" cy="844500"/>
          </a:xfrm>
          <a:prstGeom prst="roundRect">
            <a:avLst>
              <a:gd fmla="val 7141" name="adj"/>
            </a:avLst>
          </a:prstGeom>
          <a:solidFill>
            <a:srgbClr val="FBF9F1"/>
          </a:solidFill>
          <a:ln cap="flat" cmpd="sng" w="76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19"/>
          </a:p>
        </p:txBody>
      </p:sp>
      <p:sp>
        <p:nvSpPr>
          <p:cNvPr id="355" name="Google Shape;355;p17"/>
          <p:cNvSpPr/>
          <p:nvPr/>
        </p:nvSpPr>
        <p:spPr>
          <a:xfrm>
            <a:off x="759627" y="1603377"/>
            <a:ext cx="829200" cy="243300"/>
          </a:xfrm>
          <a:prstGeom prst="roundRect">
            <a:avLst>
              <a:gd fmla="val 830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1"/>
              <a:t>Local FPGA/ISP</a:t>
            </a:r>
            <a:endParaRPr sz="601"/>
          </a:p>
        </p:txBody>
      </p:sp>
      <p:sp>
        <p:nvSpPr>
          <p:cNvPr id="356" name="Google Shape;356;p17"/>
          <p:cNvSpPr/>
          <p:nvPr/>
        </p:nvSpPr>
        <p:spPr>
          <a:xfrm>
            <a:off x="759627" y="1187168"/>
            <a:ext cx="829200" cy="385200"/>
          </a:xfrm>
          <a:prstGeom prst="roundRect">
            <a:avLst>
              <a:gd fmla="val 830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1"/>
              <a:t>Multispectral detector head</a:t>
            </a:r>
            <a:endParaRPr sz="601"/>
          </a:p>
        </p:txBody>
      </p:sp>
      <p:sp>
        <p:nvSpPr>
          <p:cNvPr id="357" name="Google Shape;357;p17"/>
          <p:cNvSpPr/>
          <p:nvPr/>
        </p:nvSpPr>
        <p:spPr>
          <a:xfrm>
            <a:off x="751446" y="2191842"/>
            <a:ext cx="829200" cy="294000"/>
          </a:xfrm>
          <a:prstGeom prst="roundRect">
            <a:avLst>
              <a:gd fmla="val 830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1"/>
              <a:t>Laser + spectrograph + detector</a:t>
            </a:r>
            <a:endParaRPr sz="601"/>
          </a:p>
        </p:txBody>
      </p:sp>
      <p:sp>
        <p:nvSpPr>
          <p:cNvPr id="358" name="Google Shape;358;p17"/>
          <p:cNvSpPr/>
          <p:nvPr/>
        </p:nvSpPr>
        <p:spPr>
          <a:xfrm>
            <a:off x="724653" y="2960908"/>
            <a:ext cx="829200" cy="269100"/>
          </a:xfrm>
          <a:prstGeom prst="roundRect">
            <a:avLst>
              <a:gd fmla="val 830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1"/>
              <a:t>Local FPGA/ISP</a:t>
            </a:r>
            <a:endParaRPr sz="601"/>
          </a:p>
        </p:txBody>
      </p:sp>
      <p:sp>
        <p:nvSpPr>
          <p:cNvPr id="359" name="Google Shape;359;p17"/>
          <p:cNvSpPr/>
          <p:nvPr/>
        </p:nvSpPr>
        <p:spPr>
          <a:xfrm>
            <a:off x="2246505" y="1479578"/>
            <a:ext cx="829200" cy="186900"/>
          </a:xfrm>
          <a:prstGeom prst="roundRect">
            <a:avLst>
              <a:gd fmla="val 830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1"/>
              <a:t>CPU / OBC</a:t>
            </a:r>
            <a:endParaRPr sz="601"/>
          </a:p>
        </p:txBody>
      </p:sp>
      <p:sp>
        <p:nvSpPr>
          <p:cNvPr id="360" name="Google Shape;360;p17"/>
          <p:cNvSpPr/>
          <p:nvPr/>
        </p:nvSpPr>
        <p:spPr>
          <a:xfrm>
            <a:off x="2247703" y="1714163"/>
            <a:ext cx="829200" cy="186900"/>
          </a:xfrm>
          <a:prstGeom prst="roundRect">
            <a:avLst>
              <a:gd fmla="val 830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1"/>
              <a:t>Mass Memory</a:t>
            </a:r>
            <a:endParaRPr sz="601"/>
          </a:p>
        </p:txBody>
      </p:sp>
      <p:sp>
        <p:nvSpPr>
          <p:cNvPr id="361" name="Google Shape;361;p17"/>
          <p:cNvSpPr/>
          <p:nvPr/>
        </p:nvSpPr>
        <p:spPr>
          <a:xfrm>
            <a:off x="2247703" y="1948747"/>
            <a:ext cx="829200" cy="186900"/>
          </a:xfrm>
          <a:prstGeom prst="roundRect">
            <a:avLst>
              <a:gd fmla="val 830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1"/>
              <a:t>Time Sync &amp; Clock</a:t>
            </a:r>
            <a:endParaRPr sz="601"/>
          </a:p>
        </p:txBody>
      </p:sp>
      <p:sp>
        <p:nvSpPr>
          <p:cNvPr id="362" name="Google Shape;362;p17"/>
          <p:cNvSpPr/>
          <p:nvPr/>
        </p:nvSpPr>
        <p:spPr>
          <a:xfrm>
            <a:off x="2246505" y="2183331"/>
            <a:ext cx="829200" cy="314400"/>
          </a:xfrm>
          <a:prstGeom prst="roundRect">
            <a:avLst>
              <a:gd fmla="val 830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1"/>
              <a:t>TM/TC Router (CCSDS / IP)</a:t>
            </a:r>
            <a:endParaRPr sz="601"/>
          </a:p>
        </p:txBody>
      </p:sp>
      <p:sp>
        <p:nvSpPr>
          <p:cNvPr id="363" name="Google Shape;363;p17"/>
          <p:cNvSpPr/>
          <p:nvPr/>
        </p:nvSpPr>
        <p:spPr>
          <a:xfrm>
            <a:off x="3578289" y="3272673"/>
            <a:ext cx="829200" cy="314400"/>
          </a:xfrm>
          <a:prstGeom prst="roundRect">
            <a:avLst>
              <a:gd fmla="val 924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/>
              <a:t>Local Link Radio Modem (UHF / VHF / ISM)</a:t>
            </a:r>
            <a:endParaRPr sz="601"/>
          </a:p>
        </p:txBody>
      </p:sp>
      <p:sp>
        <p:nvSpPr>
          <p:cNvPr id="364" name="Google Shape;364;p17"/>
          <p:cNvSpPr/>
          <p:nvPr/>
        </p:nvSpPr>
        <p:spPr>
          <a:xfrm>
            <a:off x="3578289" y="3632128"/>
            <a:ext cx="829200" cy="186900"/>
          </a:xfrm>
          <a:prstGeom prst="roundRect">
            <a:avLst>
              <a:gd fmla="val 830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/>
              <a:t>RF Front-End</a:t>
            </a:r>
            <a:endParaRPr sz="559"/>
          </a:p>
        </p:txBody>
      </p:sp>
      <p:sp>
        <p:nvSpPr>
          <p:cNvPr id="365" name="Google Shape;365;p17"/>
          <p:cNvSpPr/>
          <p:nvPr/>
        </p:nvSpPr>
        <p:spPr>
          <a:xfrm>
            <a:off x="2193180" y="3227123"/>
            <a:ext cx="991200" cy="186900"/>
          </a:xfrm>
          <a:prstGeom prst="roundRect">
            <a:avLst>
              <a:gd fmla="val 830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/>
              <a:t>X/Ka-</a:t>
            </a:r>
            <a:r>
              <a:rPr lang="en" sz="601"/>
              <a:t>band</a:t>
            </a:r>
            <a:r>
              <a:rPr lang="en" sz="559"/>
              <a:t> Transponder</a:t>
            </a:r>
            <a:endParaRPr sz="559"/>
          </a:p>
        </p:txBody>
      </p:sp>
      <p:sp>
        <p:nvSpPr>
          <p:cNvPr id="366" name="Google Shape;366;p17"/>
          <p:cNvSpPr/>
          <p:nvPr/>
        </p:nvSpPr>
        <p:spPr>
          <a:xfrm>
            <a:off x="2600488" y="3462686"/>
            <a:ext cx="583800" cy="314400"/>
          </a:xfrm>
          <a:prstGeom prst="roundRect">
            <a:avLst>
              <a:gd fmla="val 830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/>
              <a:t>Diplexer / RF switching network</a:t>
            </a:r>
            <a:endParaRPr sz="559"/>
          </a:p>
        </p:txBody>
      </p:sp>
      <p:sp>
        <p:nvSpPr>
          <p:cNvPr id="367" name="Google Shape;367;p17"/>
          <p:cNvSpPr/>
          <p:nvPr/>
        </p:nvSpPr>
        <p:spPr>
          <a:xfrm>
            <a:off x="2193180" y="3462686"/>
            <a:ext cx="374400" cy="314400"/>
          </a:xfrm>
          <a:prstGeom prst="roundRect">
            <a:avLst>
              <a:gd fmla="val 8302" name="adj"/>
            </a:avLst>
          </a:prstGeom>
          <a:solidFill>
            <a:srgbClr val="D9EAD3"/>
          </a:solidFill>
          <a:ln cap="flat" cmpd="sng" w="57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/>
              <a:t>SSPA</a:t>
            </a:r>
            <a:endParaRPr sz="559"/>
          </a:p>
        </p:txBody>
      </p:sp>
      <p:sp>
        <p:nvSpPr>
          <p:cNvPr id="368" name="Google Shape;368;p17"/>
          <p:cNvSpPr/>
          <p:nvPr/>
        </p:nvSpPr>
        <p:spPr>
          <a:xfrm>
            <a:off x="2750966" y="4040911"/>
            <a:ext cx="829200" cy="314400"/>
          </a:xfrm>
          <a:prstGeom prst="roundRect">
            <a:avLst>
              <a:gd fmla="val 8302" name="adj"/>
            </a:avLst>
          </a:prstGeom>
          <a:solidFill>
            <a:srgbClr val="FBF9F1"/>
          </a:solidFill>
          <a:ln cap="flat" cmpd="sng" w="76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/>
              <a:t>Low Gain Antenna (LGA)</a:t>
            </a:r>
            <a:endParaRPr sz="559"/>
          </a:p>
        </p:txBody>
      </p:sp>
      <p:sp>
        <p:nvSpPr>
          <p:cNvPr id="369" name="Google Shape;369;p17"/>
          <p:cNvSpPr/>
          <p:nvPr/>
        </p:nvSpPr>
        <p:spPr>
          <a:xfrm>
            <a:off x="1744440" y="4040911"/>
            <a:ext cx="829200" cy="314400"/>
          </a:xfrm>
          <a:prstGeom prst="roundRect">
            <a:avLst>
              <a:gd fmla="val 8302" name="adj"/>
            </a:avLst>
          </a:prstGeom>
          <a:solidFill>
            <a:srgbClr val="FBF9F1"/>
          </a:solidFill>
          <a:ln cap="flat" cmpd="sng" w="76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/>
              <a:t>High-Gain Antenna (HGA)</a:t>
            </a:r>
            <a:endParaRPr sz="559"/>
          </a:p>
        </p:txBody>
      </p:sp>
      <p:sp>
        <p:nvSpPr>
          <p:cNvPr id="370" name="Google Shape;370;p17"/>
          <p:cNvSpPr/>
          <p:nvPr/>
        </p:nvSpPr>
        <p:spPr>
          <a:xfrm>
            <a:off x="2268319" y="4582999"/>
            <a:ext cx="764700" cy="290100"/>
          </a:xfrm>
          <a:prstGeom prst="roundRect">
            <a:avLst>
              <a:gd fmla="val 8302" name="adj"/>
            </a:avLst>
          </a:prstGeom>
          <a:solidFill>
            <a:srgbClr val="FBF9F1"/>
          </a:solidFill>
          <a:ln cap="flat" cmpd="sng" w="8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775" lIns="81775" spcFirstLastPara="1" rIns="81775" wrap="square" tIns="81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6"/>
              <a:t>Ground / Orbiter</a:t>
            </a:r>
            <a:endParaRPr sz="626"/>
          </a:p>
        </p:txBody>
      </p:sp>
      <p:sp>
        <p:nvSpPr>
          <p:cNvPr id="371" name="Google Shape;371;p17"/>
          <p:cNvSpPr txBox="1"/>
          <p:nvPr/>
        </p:nvSpPr>
        <p:spPr>
          <a:xfrm>
            <a:off x="753146" y="849752"/>
            <a:ext cx="825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rgbClr val="595959"/>
                </a:solidFill>
              </a:rPr>
              <a:t>Multispectral Camera Controller</a:t>
            </a:r>
            <a:endParaRPr b="1" sz="537">
              <a:solidFill>
                <a:srgbClr val="595959"/>
              </a:solidFill>
            </a:endParaRPr>
          </a:p>
        </p:txBody>
      </p:sp>
      <p:sp>
        <p:nvSpPr>
          <p:cNvPr id="372" name="Google Shape;372;p17"/>
          <p:cNvSpPr txBox="1"/>
          <p:nvPr/>
        </p:nvSpPr>
        <p:spPr>
          <a:xfrm>
            <a:off x="616544" y="1897520"/>
            <a:ext cx="984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rgbClr val="595959"/>
                </a:solidFill>
              </a:rPr>
              <a:t>Raman Spectrometer Controller</a:t>
            </a:r>
            <a:endParaRPr b="1" sz="537">
              <a:solidFill>
                <a:srgbClr val="595959"/>
              </a:solidFill>
            </a:endParaRPr>
          </a:p>
        </p:txBody>
      </p:sp>
      <p:sp>
        <p:nvSpPr>
          <p:cNvPr id="373" name="Google Shape;373;p17"/>
          <p:cNvSpPr txBox="1"/>
          <p:nvPr/>
        </p:nvSpPr>
        <p:spPr>
          <a:xfrm>
            <a:off x="646963" y="2619769"/>
            <a:ext cx="984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rgbClr val="595959"/>
                </a:solidFill>
              </a:rPr>
              <a:t>PASS / Geophone DAQ Module</a:t>
            </a:r>
            <a:endParaRPr b="1" sz="537">
              <a:solidFill>
                <a:srgbClr val="595959"/>
              </a:solidFill>
            </a:endParaRPr>
          </a:p>
        </p:txBody>
      </p:sp>
      <p:sp>
        <p:nvSpPr>
          <p:cNvPr id="374" name="Google Shape;374;p17"/>
          <p:cNvSpPr txBox="1"/>
          <p:nvPr/>
        </p:nvSpPr>
        <p:spPr>
          <a:xfrm>
            <a:off x="2196515" y="2936287"/>
            <a:ext cx="984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rgbClr val="595959"/>
                </a:solidFill>
              </a:rPr>
              <a:t>Rover Deep Space Link Subsystem</a:t>
            </a:r>
            <a:endParaRPr b="1" sz="537">
              <a:solidFill>
                <a:srgbClr val="595959"/>
              </a:solidFill>
            </a:endParaRPr>
          </a:p>
        </p:txBody>
      </p:sp>
      <p:sp>
        <p:nvSpPr>
          <p:cNvPr id="375" name="Google Shape;375;p17"/>
          <p:cNvSpPr txBox="1"/>
          <p:nvPr/>
        </p:nvSpPr>
        <p:spPr>
          <a:xfrm>
            <a:off x="3502628" y="2922747"/>
            <a:ext cx="984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rgbClr val="595959"/>
                </a:solidFill>
              </a:rPr>
              <a:t>Rover Drone Local Link Subsystem</a:t>
            </a:r>
            <a:endParaRPr b="1" sz="537">
              <a:solidFill>
                <a:srgbClr val="595959"/>
              </a:solidFill>
            </a:endParaRPr>
          </a:p>
        </p:txBody>
      </p:sp>
      <p:cxnSp>
        <p:nvCxnSpPr>
          <p:cNvPr id="376" name="Google Shape;376;p17"/>
          <p:cNvCxnSpPr>
            <a:endCxn id="349" idx="3"/>
          </p:cNvCxnSpPr>
          <p:nvPr/>
        </p:nvCxnSpPr>
        <p:spPr>
          <a:xfrm rot="10800000">
            <a:off x="1639885" y="1408147"/>
            <a:ext cx="533100" cy="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17"/>
          <p:cNvCxnSpPr/>
          <p:nvPr/>
        </p:nvCxnSpPr>
        <p:spPr>
          <a:xfrm>
            <a:off x="1661838" y="1462030"/>
            <a:ext cx="508800" cy="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17"/>
          <p:cNvCxnSpPr/>
          <p:nvPr/>
        </p:nvCxnSpPr>
        <p:spPr>
          <a:xfrm rot="10800000">
            <a:off x="1644703" y="2290338"/>
            <a:ext cx="528300" cy="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17"/>
          <p:cNvCxnSpPr/>
          <p:nvPr/>
        </p:nvCxnSpPr>
        <p:spPr>
          <a:xfrm>
            <a:off x="1647023" y="2349123"/>
            <a:ext cx="537000" cy="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17"/>
          <p:cNvCxnSpPr/>
          <p:nvPr/>
        </p:nvCxnSpPr>
        <p:spPr>
          <a:xfrm>
            <a:off x="2672889" y="2576038"/>
            <a:ext cx="0" cy="37470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17"/>
          <p:cNvCxnSpPr/>
          <p:nvPr/>
        </p:nvCxnSpPr>
        <p:spPr>
          <a:xfrm rot="10800000">
            <a:off x="2730385" y="2595178"/>
            <a:ext cx="0" cy="34620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2" name="Google Shape;382;p17"/>
          <p:cNvCxnSpPr/>
          <p:nvPr/>
        </p:nvCxnSpPr>
        <p:spPr>
          <a:xfrm rot="10800000">
            <a:off x="2975580" y="3841778"/>
            <a:ext cx="0" cy="19410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17"/>
          <p:cNvCxnSpPr/>
          <p:nvPr/>
        </p:nvCxnSpPr>
        <p:spPr>
          <a:xfrm>
            <a:off x="3058679" y="3846578"/>
            <a:ext cx="0" cy="19440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17"/>
          <p:cNvCxnSpPr/>
          <p:nvPr/>
        </p:nvCxnSpPr>
        <p:spPr>
          <a:xfrm rot="10800000">
            <a:off x="2381519" y="3832353"/>
            <a:ext cx="0" cy="19410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17"/>
          <p:cNvCxnSpPr/>
          <p:nvPr/>
        </p:nvCxnSpPr>
        <p:spPr>
          <a:xfrm>
            <a:off x="2464619" y="3837153"/>
            <a:ext cx="0" cy="19440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17"/>
          <p:cNvCxnSpPr/>
          <p:nvPr/>
        </p:nvCxnSpPr>
        <p:spPr>
          <a:xfrm rot="10800000">
            <a:off x="2850908" y="4364612"/>
            <a:ext cx="0" cy="19410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17"/>
          <p:cNvCxnSpPr/>
          <p:nvPr/>
        </p:nvCxnSpPr>
        <p:spPr>
          <a:xfrm>
            <a:off x="2934007" y="4369412"/>
            <a:ext cx="0" cy="19440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17"/>
          <p:cNvCxnSpPr/>
          <p:nvPr/>
        </p:nvCxnSpPr>
        <p:spPr>
          <a:xfrm rot="10800000">
            <a:off x="2402920" y="4367261"/>
            <a:ext cx="0" cy="19410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17"/>
          <p:cNvCxnSpPr/>
          <p:nvPr/>
        </p:nvCxnSpPr>
        <p:spPr>
          <a:xfrm>
            <a:off x="2486019" y="4372062"/>
            <a:ext cx="0" cy="19440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" name="Google Shape;390;p17"/>
          <p:cNvCxnSpPr/>
          <p:nvPr/>
        </p:nvCxnSpPr>
        <p:spPr>
          <a:xfrm rot="10800000">
            <a:off x="3135692" y="1388364"/>
            <a:ext cx="486300" cy="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" name="Google Shape;391;p17"/>
          <p:cNvCxnSpPr/>
          <p:nvPr/>
        </p:nvCxnSpPr>
        <p:spPr>
          <a:xfrm>
            <a:off x="3147525" y="1445720"/>
            <a:ext cx="473100" cy="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2" name="Google Shape;392;p17"/>
          <p:cNvSpPr txBox="1"/>
          <p:nvPr/>
        </p:nvSpPr>
        <p:spPr>
          <a:xfrm>
            <a:off x="1632465" y="1265938"/>
            <a:ext cx="633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SpaceWire / Ethernet</a:t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393" name="Google Shape;393;p17"/>
          <p:cNvSpPr txBox="1"/>
          <p:nvPr/>
        </p:nvSpPr>
        <p:spPr>
          <a:xfrm>
            <a:off x="1662696" y="2152580"/>
            <a:ext cx="633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SpaceWire / Ethernet</a:t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3133311" y="1238986"/>
            <a:ext cx="5838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PCIe</a:t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395" name="Google Shape;395;p17"/>
          <p:cNvSpPr txBox="1"/>
          <p:nvPr/>
        </p:nvSpPr>
        <p:spPr>
          <a:xfrm rot="5400000">
            <a:off x="2461117" y="2678393"/>
            <a:ext cx="6138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UART</a:t>
            </a:r>
            <a:endParaRPr b="1" sz="337">
              <a:solidFill>
                <a:srgbClr val="595959"/>
              </a:solidFill>
            </a:endParaRPr>
          </a:p>
        </p:txBody>
      </p:sp>
      <p:cxnSp>
        <p:nvCxnSpPr>
          <p:cNvPr id="396" name="Google Shape;396;p17"/>
          <p:cNvCxnSpPr/>
          <p:nvPr/>
        </p:nvCxnSpPr>
        <p:spPr>
          <a:xfrm flipH="1">
            <a:off x="1619577" y="2557300"/>
            <a:ext cx="833100" cy="341700"/>
          </a:xfrm>
          <a:prstGeom prst="bentConnector3">
            <a:avLst>
              <a:gd fmla="val 0" name="adj1"/>
            </a:avLst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17"/>
          <p:cNvCxnSpPr/>
          <p:nvPr/>
        </p:nvCxnSpPr>
        <p:spPr>
          <a:xfrm rot="10800000">
            <a:off x="1619771" y="2895808"/>
            <a:ext cx="91500" cy="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8" name="Google Shape;398;p17"/>
          <p:cNvSpPr txBox="1"/>
          <p:nvPr/>
        </p:nvSpPr>
        <p:spPr>
          <a:xfrm>
            <a:off x="1686135" y="2758175"/>
            <a:ext cx="9138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SpaceWire / Ethernet</a:t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399" name="Google Shape;399;p17"/>
          <p:cNvSpPr txBox="1"/>
          <p:nvPr/>
        </p:nvSpPr>
        <p:spPr>
          <a:xfrm rot="5401137">
            <a:off x="2212125" y="4105700"/>
            <a:ext cx="906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RF Deep Space Link(X / Ka </a:t>
            </a:r>
            <a:r>
              <a:rPr b="1" lang="en" sz="337">
                <a:solidFill>
                  <a:schemeClr val="dk2"/>
                </a:solidFill>
              </a:rPr>
              <a:t>band</a:t>
            </a:r>
            <a:r>
              <a:rPr b="1" lang="en" sz="337">
                <a:solidFill>
                  <a:srgbClr val="595959"/>
                </a:solidFill>
              </a:rPr>
              <a:t>)</a:t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2880421" y="3787213"/>
            <a:ext cx="690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RF X/Ka-band</a:t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3128278" y="2211532"/>
            <a:ext cx="9138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Coaxial (RF)</a:t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2193183" y="1115137"/>
            <a:ext cx="936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rgbClr val="595959"/>
                </a:solidFill>
              </a:rPr>
              <a:t>Rover Comms &amp; Data Handling (C&amp;DH) Unit</a:t>
            </a:r>
            <a:endParaRPr b="1" sz="537">
              <a:solidFill>
                <a:srgbClr val="595959"/>
              </a:solidFill>
            </a:endParaRPr>
          </a:p>
        </p:txBody>
      </p:sp>
      <p:sp>
        <p:nvSpPr>
          <p:cNvPr id="403" name="Google Shape;403;p17"/>
          <p:cNvSpPr txBox="1"/>
          <p:nvPr/>
        </p:nvSpPr>
        <p:spPr>
          <a:xfrm>
            <a:off x="433125" y="541900"/>
            <a:ext cx="344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A84F"/>
                </a:solidFill>
              </a:rPr>
              <a:t>COMMS SYSTEM ARCHITECTURE - ROVER</a:t>
            </a:r>
            <a:endParaRPr sz="700">
              <a:solidFill>
                <a:srgbClr val="6AA84F"/>
              </a:solidFill>
            </a:endParaRPr>
          </a:p>
        </p:txBody>
      </p:sp>
      <p:cxnSp>
        <p:nvCxnSpPr>
          <p:cNvPr id="404" name="Google Shape;404;p17"/>
          <p:cNvCxnSpPr/>
          <p:nvPr/>
        </p:nvCxnSpPr>
        <p:spPr>
          <a:xfrm rot="10800000">
            <a:off x="2453525" y="2556725"/>
            <a:ext cx="0" cy="9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5" name="Google Shape;405;p17"/>
          <p:cNvSpPr/>
          <p:nvPr/>
        </p:nvSpPr>
        <p:spPr>
          <a:xfrm>
            <a:off x="5656408" y="1027291"/>
            <a:ext cx="1166400" cy="1449300"/>
          </a:xfrm>
          <a:prstGeom prst="roundRect">
            <a:avLst>
              <a:gd fmla="val 7081" name="adj"/>
            </a:avLst>
          </a:prstGeom>
          <a:solidFill>
            <a:srgbClr val="FBF9F1"/>
          </a:solidFill>
          <a:ln cap="flat" cmpd="sng" w="80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93"/>
          </a:p>
        </p:txBody>
      </p:sp>
      <p:sp>
        <p:nvSpPr>
          <p:cNvPr id="406" name="Google Shape;406;p17"/>
          <p:cNvSpPr/>
          <p:nvPr/>
        </p:nvSpPr>
        <p:spPr>
          <a:xfrm>
            <a:off x="7431673" y="1135831"/>
            <a:ext cx="992100" cy="3333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0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93"/>
              <a:t>GPU / AI Accelerator</a:t>
            </a:r>
            <a:endParaRPr sz="593"/>
          </a:p>
        </p:txBody>
      </p:sp>
      <p:sp>
        <p:nvSpPr>
          <p:cNvPr id="407" name="Google Shape;407;p17"/>
          <p:cNvSpPr/>
          <p:nvPr/>
        </p:nvSpPr>
        <p:spPr>
          <a:xfrm>
            <a:off x="7434244" y="1805865"/>
            <a:ext cx="992100" cy="956400"/>
          </a:xfrm>
          <a:prstGeom prst="roundRect">
            <a:avLst>
              <a:gd fmla="val 4863" name="adj"/>
            </a:avLst>
          </a:prstGeom>
          <a:solidFill>
            <a:srgbClr val="FBF9F1"/>
          </a:solidFill>
          <a:ln cap="flat" cmpd="sng" w="80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7"/>
          </a:p>
        </p:txBody>
      </p:sp>
      <p:sp>
        <p:nvSpPr>
          <p:cNvPr id="408" name="Google Shape;408;p17"/>
          <p:cNvSpPr/>
          <p:nvPr/>
        </p:nvSpPr>
        <p:spPr>
          <a:xfrm>
            <a:off x="5679475" y="2930226"/>
            <a:ext cx="1166400" cy="969000"/>
          </a:xfrm>
          <a:prstGeom prst="roundRect">
            <a:avLst>
              <a:gd fmla="val 7141" name="adj"/>
            </a:avLst>
          </a:prstGeom>
          <a:solidFill>
            <a:srgbClr val="FBF9F1"/>
          </a:solidFill>
          <a:ln cap="flat" cmpd="sng" w="80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2"/>
          </a:p>
        </p:txBody>
      </p:sp>
      <p:sp>
        <p:nvSpPr>
          <p:cNvPr id="409" name="Google Shape;409;p17"/>
          <p:cNvSpPr/>
          <p:nvPr/>
        </p:nvSpPr>
        <p:spPr>
          <a:xfrm>
            <a:off x="5715513" y="1341388"/>
            <a:ext cx="1050600" cy="198300"/>
          </a:xfrm>
          <a:prstGeom prst="roundRect">
            <a:avLst>
              <a:gd fmla="val 8302" name="adj"/>
            </a:avLst>
          </a:prstGeom>
          <a:solidFill>
            <a:srgbClr val="C9DAF8"/>
          </a:solidFill>
          <a:ln cap="flat" cmpd="sng" w="6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7"/>
              <a:t>Flight  Control CPU</a:t>
            </a:r>
            <a:endParaRPr sz="637"/>
          </a:p>
        </p:txBody>
      </p:sp>
      <p:sp>
        <p:nvSpPr>
          <p:cNvPr id="410" name="Google Shape;410;p17"/>
          <p:cNvSpPr/>
          <p:nvPr/>
        </p:nvSpPr>
        <p:spPr>
          <a:xfrm>
            <a:off x="5716700" y="1590048"/>
            <a:ext cx="1050600" cy="198300"/>
          </a:xfrm>
          <a:prstGeom prst="roundRect">
            <a:avLst>
              <a:gd fmla="val 8302" name="adj"/>
            </a:avLst>
          </a:prstGeom>
          <a:solidFill>
            <a:srgbClr val="C9DAF8"/>
          </a:solidFill>
          <a:ln cap="flat" cmpd="sng" w="6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7"/>
              <a:t>Navigation Stack (IMU, altimeter, GNSS)</a:t>
            </a:r>
            <a:endParaRPr sz="637"/>
          </a:p>
        </p:txBody>
      </p:sp>
      <p:sp>
        <p:nvSpPr>
          <p:cNvPr id="411" name="Google Shape;411;p17"/>
          <p:cNvSpPr/>
          <p:nvPr/>
        </p:nvSpPr>
        <p:spPr>
          <a:xfrm>
            <a:off x="5723904" y="1838685"/>
            <a:ext cx="1043400" cy="198300"/>
          </a:xfrm>
          <a:prstGeom prst="roundRect">
            <a:avLst>
              <a:gd fmla="val 8302" name="adj"/>
            </a:avLst>
          </a:prstGeom>
          <a:solidFill>
            <a:srgbClr val="C9DAF8"/>
          </a:solidFill>
          <a:ln cap="flat" cmpd="sng" w="6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7"/>
              <a:t>Local Mass Memory</a:t>
            </a:r>
            <a:endParaRPr sz="637"/>
          </a:p>
        </p:txBody>
      </p:sp>
      <p:sp>
        <p:nvSpPr>
          <p:cNvPr id="412" name="Google Shape;412;p17"/>
          <p:cNvSpPr/>
          <p:nvPr/>
        </p:nvSpPr>
        <p:spPr>
          <a:xfrm>
            <a:off x="5715513" y="2087321"/>
            <a:ext cx="1050600" cy="333300"/>
          </a:xfrm>
          <a:prstGeom prst="roundRect">
            <a:avLst>
              <a:gd fmla="val 8302" name="adj"/>
            </a:avLst>
          </a:prstGeom>
          <a:solidFill>
            <a:srgbClr val="C9DAF8"/>
          </a:solidFill>
          <a:ln cap="flat" cmpd="sng" w="6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7"/>
              <a:t>TM/TC &amp; Payload Router</a:t>
            </a:r>
            <a:endParaRPr sz="637"/>
          </a:p>
        </p:txBody>
      </p:sp>
      <p:sp>
        <p:nvSpPr>
          <p:cNvPr id="413" name="Google Shape;413;p17"/>
          <p:cNvSpPr/>
          <p:nvPr/>
        </p:nvSpPr>
        <p:spPr>
          <a:xfrm>
            <a:off x="7490768" y="2258399"/>
            <a:ext cx="878700" cy="205800"/>
          </a:xfrm>
          <a:prstGeom prst="roundRect">
            <a:avLst>
              <a:gd fmla="val 9242" name="adj"/>
            </a:avLst>
          </a:prstGeom>
          <a:solidFill>
            <a:srgbClr val="C9DAF8"/>
          </a:solidFill>
          <a:ln cap="flat" cmpd="sng" w="6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7"/>
              <a:t>LiDAR Unit</a:t>
            </a:r>
            <a:endParaRPr sz="637"/>
          </a:p>
        </p:txBody>
      </p:sp>
      <p:sp>
        <p:nvSpPr>
          <p:cNvPr id="414" name="Google Shape;414;p17"/>
          <p:cNvSpPr/>
          <p:nvPr/>
        </p:nvSpPr>
        <p:spPr>
          <a:xfrm>
            <a:off x="7490759" y="2512063"/>
            <a:ext cx="878700" cy="198300"/>
          </a:xfrm>
          <a:prstGeom prst="roundRect">
            <a:avLst>
              <a:gd fmla="val 8302" name="adj"/>
            </a:avLst>
          </a:prstGeom>
          <a:solidFill>
            <a:srgbClr val="C9DAF8"/>
          </a:solidFill>
          <a:ln cap="flat" cmpd="sng" w="6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7"/>
              <a:t>Camera</a:t>
            </a:r>
            <a:endParaRPr sz="637"/>
          </a:p>
        </p:txBody>
      </p:sp>
      <p:sp>
        <p:nvSpPr>
          <p:cNvPr id="415" name="Google Shape;415;p17"/>
          <p:cNvSpPr/>
          <p:nvPr/>
        </p:nvSpPr>
        <p:spPr>
          <a:xfrm>
            <a:off x="5737505" y="3193658"/>
            <a:ext cx="1050600" cy="262500"/>
          </a:xfrm>
          <a:prstGeom prst="roundRect">
            <a:avLst>
              <a:gd fmla="val 8302" name="adj"/>
            </a:avLst>
          </a:prstGeom>
          <a:solidFill>
            <a:srgbClr val="C9DAF8"/>
          </a:solidFill>
          <a:ln cap="flat" cmpd="sng" w="6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7"/>
              <a:t>Radio Modem (UHF/VHF/900 MHz)</a:t>
            </a:r>
            <a:endParaRPr sz="637"/>
          </a:p>
        </p:txBody>
      </p:sp>
      <p:sp>
        <p:nvSpPr>
          <p:cNvPr id="416" name="Google Shape;416;p17"/>
          <p:cNvSpPr/>
          <p:nvPr/>
        </p:nvSpPr>
        <p:spPr>
          <a:xfrm>
            <a:off x="5742867" y="3594331"/>
            <a:ext cx="1043400" cy="262500"/>
          </a:xfrm>
          <a:prstGeom prst="roundRect">
            <a:avLst>
              <a:gd fmla="val 8302" name="adj"/>
            </a:avLst>
          </a:prstGeom>
          <a:solidFill>
            <a:srgbClr val="C9DAF8"/>
          </a:solidFill>
          <a:ln cap="flat" cmpd="sng" w="6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7"/>
              <a:t>RF Front-End</a:t>
            </a:r>
            <a:endParaRPr sz="637"/>
          </a:p>
        </p:txBody>
      </p:sp>
      <p:sp>
        <p:nvSpPr>
          <p:cNvPr id="417" name="Google Shape;417;p17"/>
          <p:cNvSpPr txBox="1"/>
          <p:nvPr/>
        </p:nvSpPr>
        <p:spPr>
          <a:xfrm>
            <a:off x="5741036" y="2885403"/>
            <a:ext cx="10434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650" lIns="86650" spcFirstLastPara="1" rIns="86650" wrap="square" tIns="866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9">
                <a:solidFill>
                  <a:srgbClr val="595959"/>
                </a:solidFill>
              </a:rPr>
              <a:t>Drone Local Radio Subsystem</a:t>
            </a:r>
            <a:endParaRPr b="1" sz="569">
              <a:solidFill>
                <a:srgbClr val="595959"/>
              </a:solidFill>
            </a:endParaRPr>
          </a:p>
        </p:txBody>
      </p:sp>
      <p:sp>
        <p:nvSpPr>
          <p:cNvPr id="418" name="Google Shape;418;p17"/>
          <p:cNvSpPr txBox="1"/>
          <p:nvPr/>
        </p:nvSpPr>
        <p:spPr>
          <a:xfrm>
            <a:off x="7410573" y="1760170"/>
            <a:ext cx="10434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86650" lIns="86650" spcFirstLastPara="1" rIns="86650" wrap="square" tIns="866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9">
                <a:solidFill>
                  <a:srgbClr val="595959"/>
                </a:solidFill>
              </a:rPr>
              <a:t>Drone Payloads</a:t>
            </a:r>
            <a:endParaRPr b="1" sz="569">
              <a:solidFill>
                <a:srgbClr val="595959"/>
              </a:solidFill>
            </a:endParaRPr>
          </a:p>
        </p:txBody>
      </p:sp>
      <p:cxnSp>
        <p:nvCxnSpPr>
          <p:cNvPr id="419" name="Google Shape;419;p17"/>
          <p:cNvCxnSpPr/>
          <p:nvPr/>
        </p:nvCxnSpPr>
        <p:spPr>
          <a:xfrm>
            <a:off x="6245903" y="2503564"/>
            <a:ext cx="0" cy="397200"/>
          </a:xfrm>
          <a:prstGeom prst="straightConnector1">
            <a:avLst/>
          </a:prstGeom>
          <a:noFill/>
          <a:ln cap="flat" cmpd="sng" w="9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p17"/>
          <p:cNvCxnSpPr/>
          <p:nvPr/>
        </p:nvCxnSpPr>
        <p:spPr>
          <a:xfrm rot="10800000">
            <a:off x="6306837" y="2523899"/>
            <a:ext cx="0" cy="366900"/>
          </a:xfrm>
          <a:prstGeom prst="straightConnector1">
            <a:avLst/>
          </a:prstGeom>
          <a:noFill/>
          <a:ln cap="flat" cmpd="sng" w="9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p17"/>
          <p:cNvCxnSpPr/>
          <p:nvPr/>
        </p:nvCxnSpPr>
        <p:spPr>
          <a:xfrm rot="10800000">
            <a:off x="6872714" y="1244715"/>
            <a:ext cx="515400" cy="0"/>
          </a:xfrm>
          <a:prstGeom prst="straightConnector1">
            <a:avLst/>
          </a:prstGeom>
          <a:noFill/>
          <a:ln cap="flat" cmpd="sng" w="9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p17"/>
          <p:cNvCxnSpPr/>
          <p:nvPr/>
        </p:nvCxnSpPr>
        <p:spPr>
          <a:xfrm>
            <a:off x="6885268" y="1305508"/>
            <a:ext cx="501300" cy="0"/>
          </a:xfrm>
          <a:prstGeom prst="straightConnector1">
            <a:avLst/>
          </a:prstGeom>
          <a:noFill/>
          <a:ln cap="flat" cmpd="sng" w="9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3" name="Google Shape;423;p17"/>
          <p:cNvSpPr txBox="1"/>
          <p:nvPr/>
        </p:nvSpPr>
        <p:spPr>
          <a:xfrm>
            <a:off x="6847845" y="1099517"/>
            <a:ext cx="6189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650" lIns="86650" spcFirstLastPara="1" rIns="86650" wrap="square" tIns="866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">
                <a:solidFill>
                  <a:srgbClr val="595959"/>
                </a:solidFill>
              </a:rPr>
              <a:t>PCIe</a:t>
            </a:r>
            <a:endParaRPr b="1" sz="300">
              <a:solidFill>
                <a:srgbClr val="595959"/>
              </a:solidFill>
            </a:endParaRPr>
          </a:p>
        </p:txBody>
      </p:sp>
      <p:sp>
        <p:nvSpPr>
          <p:cNvPr id="424" name="Google Shape;424;p17"/>
          <p:cNvSpPr txBox="1"/>
          <p:nvPr/>
        </p:nvSpPr>
        <p:spPr>
          <a:xfrm>
            <a:off x="5649221" y="2528355"/>
            <a:ext cx="650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650" lIns="86650" spcFirstLastPara="1" rIns="86650" wrap="square" tIns="866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9">
                <a:solidFill>
                  <a:srgbClr val="595959"/>
                </a:solidFill>
              </a:rPr>
              <a:t>UART / SPI / Ethernet</a:t>
            </a:r>
            <a:endParaRPr b="1" sz="569">
              <a:solidFill>
                <a:srgbClr val="595959"/>
              </a:solidFill>
            </a:endParaRPr>
          </a:p>
        </p:txBody>
      </p:sp>
      <p:cxnSp>
        <p:nvCxnSpPr>
          <p:cNvPr id="425" name="Google Shape;425;p17"/>
          <p:cNvCxnSpPr/>
          <p:nvPr/>
        </p:nvCxnSpPr>
        <p:spPr>
          <a:xfrm rot="10800000">
            <a:off x="6872975" y="1951010"/>
            <a:ext cx="515400" cy="0"/>
          </a:xfrm>
          <a:prstGeom prst="straightConnector1">
            <a:avLst/>
          </a:prstGeom>
          <a:noFill/>
          <a:ln cap="flat" cmpd="sng" w="9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p17"/>
          <p:cNvCxnSpPr/>
          <p:nvPr/>
        </p:nvCxnSpPr>
        <p:spPr>
          <a:xfrm>
            <a:off x="6885530" y="2015390"/>
            <a:ext cx="501300" cy="0"/>
          </a:xfrm>
          <a:prstGeom prst="straightConnector1">
            <a:avLst/>
          </a:prstGeom>
          <a:noFill/>
          <a:ln cap="flat" cmpd="sng" w="9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7" name="Google Shape;427;p17"/>
          <p:cNvSpPr txBox="1"/>
          <p:nvPr/>
        </p:nvSpPr>
        <p:spPr>
          <a:xfrm>
            <a:off x="6754871" y="1792653"/>
            <a:ext cx="7920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650" lIns="86650" spcFirstLastPara="1" rIns="86650" wrap="square" tIns="866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">
                <a:solidFill>
                  <a:srgbClr val="595959"/>
                </a:solidFill>
              </a:rPr>
              <a:t>CSI-2 +  SPI</a:t>
            </a:r>
            <a:endParaRPr b="1" sz="300">
              <a:solidFill>
                <a:srgbClr val="595959"/>
              </a:solidFill>
            </a:endParaRPr>
          </a:p>
        </p:txBody>
      </p:sp>
      <p:sp>
        <p:nvSpPr>
          <p:cNvPr id="428" name="Google Shape;428;p17"/>
          <p:cNvSpPr txBox="1"/>
          <p:nvPr/>
        </p:nvSpPr>
        <p:spPr>
          <a:xfrm>
            <a:off x="5830792" y="965878"/>
            <a:ext cx="992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650" lIns="86650" spcFirstLastPara="1" rIns="86650" wrap="square" tIns="866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9">
                <a:solidFill>
                  <a:srgbClr val="595959"/>
                </a:solidFill>
              </a:rPr>
              <a:t>Drone Flight Computer / Avionics</a:t>
            </a:r>
            <a:endParaRPr b="1" sz="569">
              <a:solidFill>
                <a:srgbClr val="595959"/>
              </a:solidFill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7458328" y="3278563"/>
            <a:ext cx="992100" cy="3333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0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25" lIns="77425" spcFirstLastPara="1" rIns="77425" wrap="square" tIns="7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93"/>
              <a:t>Drone antenna (Patch/Monopole)</a:t>
            </a:r>
            <a:endParaRPr sz="593"/>
          </a:p>
        </p:txBody>
      </p:sp>
      <p:cxnSp>
        <p:nvCxnSpPr>
          <p:cNvPr id="430" name="Google Shape;430;p17"/>
          <p:cNvCxnSpPr>
            <a:endCxn id="408" idx="3"/>
          </p:cNvCxnSpPr>
          <p:nvPr/>
        </p:nvCxnSpPr>
        <p:spPr>
          <a:xfrm rot="10800000">
            <a:off x="6845875" y="3414726"/>
            <a:ext cx="604800" cy="0"/>
          </a:xfrm>
          <a:prstGeom prst="straightConnector1">
            <a:avLst/>
          </a:prstGeom>
          <a:noFill/>
          <a:ln cap="flat" cmpd="sng" w="9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17"/>
          <p:cNvCxnSpPr/>
          <p:nvPr/>
        </p:nvCxnSpPr>
        <p:spPr>
          <a:xfrm>
            <a:off x="6850928" y="3448241"/>
            <a:ext cx="592500" cy="0"/>
          </a:xfrm>
          <a:prstGeom prst="straightConnector1">
            <a:avLst/>
          </a:prstGeom>
          <a:noFill/>
          <a:ln cap="flat" cmpd="sng" w="9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" name="Google Shape;432;p17"/>
          <p:cNvSpPr txBox="1"/>
          <p:nvPr/>
        </p:nvSpPr>
        <p:spPr>
          <a:xfrm>
            <a:off x="6838460" y="3264226"/>
            <a:ext cx="6189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650" lIns="86650" spcFirstLastPara="1" rIns="86650" wrap="square" tIns="866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">
                <a:solidFill>
                  <a:srgbClr val="595959"/>
                </a:solidFill>
              </a:rPr>
              <a:t>RF UHF/VHF</a:t>
            </a:r>
            <a:endParaRPr b="1" sz="300">
              <a:solidFill>
                <a:srgbClr val="595959"/>
              </a:solidFill>
            </a:endParaRPr>
          </a:p>
        </p:txBody>
      </p:sp>
      <p:sp>
        <p:nvSpPr>
          <p:cNvPr id="433" name="Google Shape;433;p17"/>
          <p:cNvSpPr txBox="1"/>
          <p:nvPr/>
        </p:nvSpPr>
        <p:spPr>
          <a:xfrm>
            <a:off x="5408238" y="548016"/>
            <a:ext cx="344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8677A"/>
                </a:solidFill>
              </a:rPr>
              <a:t>COMMS SYSTEM ARCHITECTURE - DRONE</a:t>
            </a:r>
            <a:endParaRPr sz="700">
              <a:solidFill>
                <a:srgbClr val="48677A"/>
              </a:solidFill>
            </a:endParaRPr>
          </a:p>
        </p:txBody>
      </p:sp>
      <p:cxnSp>
        <p:nvCxnSpPr>
          <p:cNvPr id="434" name="Google Shape;434;p17"/>
          <p:cNvCxnSpPr/>
          <p:nvPr/>
        </p:nvCxnSpPr>
        <p:spPr>
          <a:xfrm>
            <a:off x="3137475" y="2366875"/>
            <a:ext cx="770700" cy="599400"/>
          </a:xfrm>
          <a:prstGeom prst="bentConnector3">
            <a:avLst>
              <a:gd fmla="val 10078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17"/>
          <p:cNvCxnSpPr/>
          <p:nvPr/>
        </p:nvCxnSpPr>
        <p:spPr>
          <a:xfrm rot="10800000">
            <a:off x="3125120" y="2366875"/>
            <a:ext cx="10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17"/>
          <p:cNvCxnSpPr/>
          <p:nvPr/>
        </p:nvCxnSpPr>
        <p:spPr>
          <a:xfrm>
            <a:off x="3914209" y="2813325"/>
            <a:ext cx="0" cy="14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7" name="Google Shape;437;p17"/>
          <p:cNvSpPr/>
          <p:nvPr/>
        </p:nvSpPr>
        <p:spPr>
          <a:xfrm>
            <a:off x="4705604" y="3035003"/>
            <a:ext cx="737700" cy="3144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76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9"/>
              <a:t>Rover Local Link Antenna (Omni/Patch)</a:t>
            </a:r>
            <a:endParaRPr sz="559"/>
          </a:p>
        </p:txBody>
      </p:sp>
      <p:sp>
        <p:nvSpPr>
          <p:cNvPr id="438" name="Google Shape;438;p17"/>
          <p:cNvSpPr/>
          <p:nvPr/>
        </p:nvSpPr>
        <p:spPr>
          <a:xfrm>
            <a:off x="4966375" y="3388775"/>
            <a:ext cx="317700" cy="4524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7"/>
          <p:cNvSpPr txBox="1"/>
          <p:nvPr/>
        </p:nvSpPr>
        <p:spPr>
          <a:xfrm>
            <a:off x="4755375" y="3825225"/>
            <a:ext cx="737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7">
                <a:solidFill>
                  <a:srgbClr val="595959"/>
                </a:solidFill>
              </a:rPr>
              <a:t>Air Interface (ISM Band 900 MHz) Bi-directional wireless link for commands, telemetry and science data.</a:t>
            </a:r>
            <a:endParaRPr b="1" sz="537">
              <a:solidFill>
                <a:srgbClr val="595959"/>
              </a:solidFill>
            </a:endParaRPr>
          </a:p>
        </p:txBody>
      </p:sp>
      <p:cxnSp>
        <p:nvCxnSpPr>
          <p:cNvPr id="440" name="Google Shape;440;p17"/>
          <p:cNvCxnSpPr/>
          <p:nvPr/>
        </p:nvCxnSpPr>
        <p:spPr>
          <a:xfrm rot="10800000">
            <a:off x="4460967" y="3576977"/>
            <a:ext cx="486300" cy="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17"/>
          <p:cNvCxnSpPr/>
          <p:nvPr/>
        </p:nvCxnSpPr>
        <p:spPr>
          <a:xfrm>
            <a:off x="4472800" y="3634332"/>
            <a:ext cx="473100" cy="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17"/>
          <p:cNvCxnSpPr/>
          <p:nvPr/>
        </p:nvCxnSpPr>
        <p:spPr>
          <a:xfrm rot="10800000">
            <a:off x="5162917" y="3576989"/>
            <a:ext cx="486300" cy="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17"/>
          <p:cNvCxnSpPr/>
          <p:nvPr/>
        </p:nvCxnSpPr>
        <p:spPr>
          <a:xfrm>
            <a:off x="5174750" y="3634345"/>
            <a:ext cx="473100" cy="0"/>
          </a:xfrm>
          <a:prstGeom prst="straightConnector1">
            <a:avLst/>
          </a:prstGeom>
          <a:noFill/>
          <a:ln cap="flat" cmpd="sng" w="8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44" name="Google Shape;444;p17" title="mars-rover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7027" y="550082"/>
            <a:ext cx="374350" cy="37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17" title="helicopt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9661" y="537841"/>
            <a:ext cx="374350" cy="374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6" name="Google Shape;446;p17"/>
          <p:cNvCxnSpPr>
            <a:endCxn id="360" idx="1"/>
          </p:cNvCxnSpPr>
          <p:nvPr/>
        </p:nvCxnSpPr>
        <p:spPr>
          <a:xfrm rot="5400000">
            <a:off x="2132953" y="1691363"/>
            <a:ext cx="231000" cy="1500"/>
          </a:xfrm>
          <a:prstGeom prst="bentConnector4">
            <a:avLst>
              <a:gd fmla="val -53" name="adj1"/>
              <a:gd fmla="val 282355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17"/>
          <p:cNvCxnSpPr>
            <a:endCxn id="361" idx="3"/>
          </p:cNvCxnSpPr>
          <p:nvPr/>
        </p:nvCxnSpPr>
        <p:spPr>
          <a:xfrm flipH="1" rot="-5400000">
            <a:off x="2843053" y="1808347"/>
            <a:ext cx="465600" cy="2100"/>
          </a:xfrm>
          <a:prstGeom prst="bentConnector4">
            <a:avLst>
              <a:gd fmla="val -2036" name="adj1"/>
              <a:gd fmla="val 179262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17"/>
          <p:cNvCxnSpPr>
            <a:stCxn id="359" idx="3"/>
            <a:endCxn id="362" idx="3"/>
          </p:cNvCxnSpPr>
          <p:nvPr/>
        </p:nvCxnSpPr>
        <p:spPr>
          <a:xfrm>
            <a:off x="3075705" y="1573028"/>
            <a:ext cx="600" cy="767400"/>
          </a:xfrm>
          <a:prstGeom prst="bentConnector3">
            <a:avLst>
              <a:gd fmla="val 1863225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17"/>
          <p:cNvSpPr txBox="1"/>
          <p:nvPr/>
        </p:nvSpPr>
        <p:spPr>
          <a:xfrm rot="-5400000">
            <a:off x="1886842" y="1559408"/>
            <a:ext cx="4731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">
                <a:solidFill>
                  <a:schemeClr val="dk2"/>
                </a:solidFill>
              </a:rPr>
              <a:t>I2C / SPI</a:t>
            </a:r>
            <a:endParaRPr b="1" sz="300">
              <a:solidFill>
                <a:schemeClr val="dk2"/>
              </a:solidFill>
            </a:endParaRPr>
          </a:p>
        </p:txBody>
      </p:sp>
      <p:cxnSp>
        <p:nvCxnSpPr>
          <p:cNvPr id="450" name="Google Shape;450;p17"/>
          <p:cNvCxnSpPr/>
          <p:nvPr/>
        </p:nvCxnSpPr>
        <p:spPr>
          <a:xfrm flipH="1" rot="-5400000">
            <a:off x="2843055" y="1808406"/>
            <a:ext cx="465600" cy="2100"/>
          </a:xfrm>
          <a:prstGeom prst="bentConnector4">
            <a:avLst>
              <a:gd fmla="val -2036" name="adj1"/>
              <a:gd fmla="val 179262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17"/>
          <p:cNvCxnSpPr/>
          <p:nvPr/>
        </p:nvCxnSpPr>
        <p:spPr>
          <a:xfrm flipH="1" rot="-5400000">
            <a:off x="2843055" y="1808406"/>
            <a:ext cx="465600" cy="2100"/>
          </a:xfrm>
          <a:prstGeom prst="bentConnector4">
            <a:avLst>
              <a:gd fmla="val -2036" name="adj1"/>
              <a:gd fmla="val 179262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17"/>
          <p:cNvSpPr txBox="1"/>
          <p:nvPr/>
        </p:nvSpPr>
        <p:spPr>
          <a:xfrm rot="5400000">
            <a:off x="2863937" y="1853606"/>
            <a:ext cx="721500" cy="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">
                <a:solidFill>
                  <a:schemeClr val="dk2"/>
                </a:solidFill>
              </a:rPr>
              <a:t>UART / PPS INPUT</a:t>
            </a:r>
            <a:endParaRPr b="1" sz="300">
              <a:solidFill>
                <a:schemeClr val="dk2"/>
              </a:solidFill>
            </a:endParaRPr>
          </a:p>
        </p:txBody>
      </p:sp>
      <p:sp>
        <p:nvSpPr>
          <p:cNvPr id="453" name="Google Shape;453;p17"/>
          <p:cNvSpPr txBox="1"/>
          <p:nvPr/>
        </p:nvSpPr>
        <p:spPr>
          <a:xfrm rot="-5400000">
            <a:off x="1886842" y="1559408"/>
            <a:ext cx="4731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">
                <a:solidFill>
                  <a:schemeClr val="dk2"/>
                </a:solidFill>
              </a:rPr>
              <a:t>I2C / SPI</a:t>
            </a:r>
            <a:endParaRPr b="1" sz="300">
              <a:solidFill>
                <a:schemeClr val="dk2"/>
              </a:solidFill>
            </a:endParaRPr>
          </a:p>
        </p:txBody>
      </p:sp>
      <p:sp>
        <p:nvSpPr>
          <p:cNvPr id="454" name="Google Shape;454;p17"/>
          <p:cNvSpPr txBox="1"/>
          <p:nvPr/>
        </p:nvSpPr>
        <p:spPr>
          <a:xfrm rot="-5400000">
            <a:off x="1886842" y="1559408"/>
            <a:ext cx="4731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">
                <a:solidFill>
                  <a:schemeClr val="dk2"/>
                </a:solidFill>
              </a:rPr>
              <a:t>I2C / SPI</a:t>
            </a:r>
            <a:endParaRPr b="1" sz="300">
              <a:solidFill>
                <a:schemeClr val="dk2"/>
              </a:solidFill>
            </a:endParaRPr>
          </a:p>
        </p:txBody>
      </p:sp>
      <p:sp>
        <p:nvSpPr>
          <p:cNvPr id="455" name="Google Shape;455;p17"/>
          <p:cNvSpPr txBox="1"/>
          <p:nvPr/>
        </p:nvSpPr>
        <p:spPr>
          <a:xfrm rot="5400000">
            <a:off x="3021292" y="1989156"/>
            <a:ext cx="4731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">
                <a:solidFill>
                  <a:schemeClr val="dk2"/>
                </a:solidFill>
              </a:rPr>
              <a:t>I2C / SPI</a:t>
            </a:r>
            <a:endParaRPr b="1" sz="300">
              <a:solidFill>
                <a:schemeClr val="dk2"/>
              </a:solidFill>
            </a:endParaRPr>
          </a:p>
        </p:txBody>
      </p:sp>
      <p:sp>
        <p:nvSpPr>
          <p:cNvPr id="456" name="Google Shape;456;p17"/>
          <p:cNvSpPr txBox="1"/>
          <p:nvPr/>
        </p:nvSpPr>
        <p:spPr>
          <a:xfrm>
            <a:off x="2049730" y="3865936"/>
            <a:ext cx="394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Coaxial RF</a:t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457" name="Google Shape;457;p17"/>
          <p:cNvSpPr txBox="1"/>
          <p:nvPr/>
        </p:nvSpPr>
        <p:spPr>
          <a:xfrm>
            <a:off x="2888105" y="3327993"/>
            <a:ext cx="394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Coaxial RF</a:t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458" name="Google Shape;458;p17"/>
          <p:cNvSpPr txBox="1"/>
          <p:nvPr/>
        </p:nvSpPr>
        <p:spPr>
          <a:xfrm rot="2616">
            <a:off x="2083919" y="3333044"/>
            <a:ext cx="394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Coaxial RF</a:t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459" name="Google Shape;459;p17"/>
          <p:cNvSpPr txBox="1"/>
          <p:nvPr/>
        </p:nvSpPr>
        <p:spPr>
          <a:xfrm rot="-5400000">
            <a:off x="5417041" y="1371962"/>
            <a:ext cx="3708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5295216" y="1864923"/>
            <a:ext cx="3708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SPI</a:t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461" name="Google Shape;461;p17"/>
          <p:cNvSpPr txBox="1"/>
          <p:nvPr/>
        </p:nvSpPr>
        <p:spPr>
          <a:xfrm>
            <a:off x="5018147" y="2157409"/>
            <a:ext cx="5838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UART+ETHERNET</a:t>
            </a:r>
            <a:endParaRPr b="1" sz="337">
              <a:solidFill>
                <a:srgbClr val="595959"/>
              </a:solidFill>
            </a:endParaRPr>
          </a:p>
        </p:txBody>
      </p:sp>
      <p:cxnSp>
        <p:nvCxnSpPr>
          <p:cNvPr id="462" name="Google Shape;462;p17"/>
          <p:cNvCxnSpPr/>
          <p:nvPr/>
        </p:nvCxnSpPr>
        <p:spPr>
          <a:xfrm>
            <a:off x="5506400" y="1480400"/>
            <a:ext cx="0" cy="8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17"/>
          <p:cNvCxnSpPr>
            <a:stCxn id="459" idx="2"/>
            <a:endCxn id="459" idx="0"/>
          </p:cNvCxnSpPr>
          <p:nvPr/>
        </p:nvCxnSpPr>
        <p:spPr>
          <a:xfrm rot="10800000">
            <a:off x="5493991" y="1480412"/>
            <a:ext cx="21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4" name="Google Shape;464;p17"/>
          <p:cNvCxnSpPr/>
          <p:nvPr/>
        </p:nvCxnSpPr>
        <p:spPr>
          <a:xfrm>
            <a:off x="5506113" y="2275304"/>
            <a:ext cx="20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5" name="Google Shape;465;p17"/>
          <p:cNvCxnSpPr/>
          <p:nvPr/>
        </p:nvCxnSpPr>
        <p:spPr>
          <a:xfrm>
            <a:off x="5510438" y="1960055"/>
            <a:ext cx="20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6" name="Google Shape;466;p17"/>
          <p:cNvCxnSpPr/>
          <p:nvPr/>
        </p:nvCxnSpPr>
        <p:spPr>
          <a:xfrm>
            <a:off x="5497738" y="1665530"/>
            <a:ext cx="20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7" name="Google Shape;467;p17"/>
          <p:cNvSpPr txBox="1"/>
          <p:nvPr/>
        </p:nvSpPr>
        <p:spPr>
          <a:xfrm>
            <a:off x="5260514" y="1558213"/>
            <a:ext cx="3708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I2C</a:t>
            </a:r>
            <a:endParaRPr b="1" sz="337">
              <a:solidFill>
                <a:srgbClr val="595959"/>
              </a:solidFill>
            </a:endParaRPr>
          </a:p>
        </p:txBody>
      </p:sp>
      <p:sp>
        <p:nvSpPr>
          <p:cNvPr id="468" name="Google Shape;468;p17"/>
          <p:cNvSpPr txBox="1"/>
          <p:nvPr/>
        </p:nvSpPr>
        <p:spPr>
          <a:xfrm rot="2781">
            <a:off x="6242356" y="3397432"/>
            <a:ext cx="3708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775" lIns="81775" spcFirstLastPara="1" rIns="81775" wrap="square" tIns="81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7">
                <a:solidFill>
                  <a:srgbClr val="595959"/>
                </a:solidFill>
              </a:rPr>
              <a:t>UART</a:t>
            </a:r>
            <a:endParaRPr b="1" sz="337">
              <a:solidFill>
                <a:srgbClr val="595959"/>
              </a:solidFill>
            </a:endParaRPr>
          </a:p>
        </p:txBody>
      </p:sp>
      <p:cxnSp>
        <p:nvCxnSpPr>
          <p:cNvPr id="469" name="Google Shape;469;p17"/>
          <p:cNvCxnSpPr>
            <a:stCxn id="415" idx="2"/>
            <a:endCxn id="416" idx="0"/>
          </p:cNvCxnSpPr>
          <p:nvPr/>
        </p:nvCxnSpPr>
        <p:spPr>
          <a:xfrm>
            <a:off x="6262805" y="3456158"/>
            <a:ext cx="1800" cy="138300"/>
          </a:xfrm>
          <a:prstGeom prst="straightConnector1">
            <a:avLst/>
          </a:prstGeom>
          <a:noFill/>
          <a:ln cap="flat" cmpd="sng" w="9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9F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8"/>
          <p:cNvSpPr txBox="1"/>
          <p:nvPr/>
        </p:nvSpPr>
        <p:spPr>
          <a:xfrm>
            <a:off x="322250" y="89488"/>
            <a:ext cx="7490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83F04"/>
                </a:solidFill>
              </a:rPr>
              <a:t>System architecture</a:t>
            </a:r>
            <a:endParaRPr b="1" sz="2400">
              <a:solidFill>
                <a:srgbClr val="C6432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C64325"/>
              </a:solidFill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3634034" y="1235672"/>
            <a:ext cx="937200" cy="1800900"/>
          </a:xfrm>
          <a:prstGeom prst="roundRect">
            <a:avLst>
              <a:gd fmla="val 16667" name="adj"/>
            </a:avLst>
          </a:prstGeom>
          <a:solidFill>
            <a:srgbClr val="FFC6C6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/>
              <a:t>Mobility Manager</a:t>
            </a:r>
            <a:endParaRPr sz="106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/>
              <a:t>OBC</a:t>
            </a:r>
            <a:endParaRPr sz="1061"/>
          </a:p>
        </p:txBody>
      </p:sp>
      <p:grpSp>
        <p:nvGrpSpPr>
          <p:cNvPr id="476" name="Google Shape;476;p18"/>
          <p:cNvGrpSpPr/>
          <p:nvPr/>
        </p:nvGrpSpPr>
        <p:grpSpPr>
          <a:xfrm>
            <a:off x="5138517" y="1154300"/>
            <a:ext cx="2298845" cy="844805"/>
            <a:chOff x="5495212" y="1119170"/>
            <a:chExt cx="3420900" cy="1005600"/>
          </a:xfrm>
        </p:grpSpPr>
        <p:sp>
          <p:nvSpPr>
            <p:cNvPr id="477" name="Google Shape;477;p18"/>
            <p:cNvSpPr/>
            <p:nvPr/>
          </p:nvSpPr>
          <p:spPr>
            <a:xfrm>
              <a:off x="5495212" y="1119170"/>
              <a:ext cx="3420900" cy="1005600"/>
            </a:xfrm>
            <a:prstGeom prst="roundRect">
              <a:avLst>
                <a:gd fmla="val 16667" name="adj"/>
              </a:avLst>
            </a:prstGeom>
            <a:solidFill>
              <a:srgbClr val="FBF9F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475" lIns="61475" spcFirstLastPara="1" rIns="61475" wrap="square" tIns="61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41"/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5577037" y="1376275"/>
              <a:ext cx="827100" cy="491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475" lIns="61475" spcFirstLastPara="1" rIns="61475" wrap="square" tIns="61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2"/>
                <a:t>Terrain evaluation</a:t>
              </a:r>
              <a:endParaRPr sz="672"/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6670826" y="1376291"/>
              <a:ext cx="928800" cy="491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475" lIns="61475" spcFirstLastPara="1" rIns="61475" wrap="square" tIns="61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2"/>
                <a:t>Perception</a:t>
              </a:r>
              <a:endParaRPr sz="672"/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7872155" y="1376275"/>
              <a:ext cx="928800" cy="491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475" lIns="61475" spcFirstLastPara="1" rIns="61475" wrap="square" tIns="614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2"/>
                <a:t>Preparation</a:t>
              </a:r>
              <a:endParaRPr sz="672"/>
            </a:p>
          </p:txBody>
        </p:sp>
      </p:grpSp>
      <p:sp>
        <p:nvSpPr>
          <p:cNvPr id="481" name="Google Shape;481;p18"/>
          <p:cNvSpPr/>
          <p:nvPr/>
        </p:nvSpPr>
        <p:spPr>
          <a:xfrm>
            <a:off x="5138752" y="2074267"/>
            <a:ext cx="2265000" cy="5832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/>
              <a:t>PATH PLANNING</a:t>
            </a:r>
            <a:endParaRPr sz="1061"/>
          </a:p>
        </p:txBody>
      </p:sp>
      <p:sp>
        <p:nvSpPr>
          <p:cNvPr id="482" name="Google Shape;482;p18"/>
          <p:cNvSpPr/>
          <p:nvPr/>
        </p:nvSpPr>
        <p:spPr>
          <a:xfrm rot="-5400000">
            <a:off x="7386075" y="1399550"/>
            <a:ext cx="780900" cy="3480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>
                <a:solidFill>
                  <a:schemeClr val="dk1"/>
                </a:solidFill>
              </a:rPr>
              <a:t>Mobility equipment interface</a:t>
            </a:r>
            <a:endParaRPr sz="619">
              <a:solidFill>
                <a:schemeClr val="dk1"/>
              </a:solidFill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3289610" y="3237539"/>
            <a:ext cx="1626000" cy="2865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1"/>
              <a:t>Trajectory control</a:t>
            </a:r>
            <a:endParaRPr sz="1061"/>
          </a:p>
        </p:txBody>
      </p:sp>
      <p:sp>
        <p:nvSpPr>
          <p:cNvPr id="484" name="Google Shape;484;p18"/>
          <p:cNvSpPr/>
          <p:nvPr/>
        </p:nvSpPr>
        <p:spPr>
          <a:xfrm>
            <a:off x="3344405" y="3723926"/>
            <a:ext cx="1516500" cy="2865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96"/>
              <a:t>Locomotion maneuver</a:t>
            </a:r>
            <a:r>
              <a:rPr lang="en" sz="796"/>
              <a:t> control</a:t>
            </a:r>
            <a:endParaRPr sz="796"/>
          </a:p>
        </p:txBody>
      </p:sp>
      <p:sp>
        <p:nvSpPr>
          <p:cNvPr id="485" name="Google Shape;485;p18"/>
          <p:cNvSpPr/>
          <p:nvPr/>
        </p:nvSpPr>
        <p:spPr>
          <a:xfrm>
            <a:off x="3344405" y="4212568"/>
            <a:ext cx="1516500" cy="2865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96"/>
              <a:t>Mobility equipment </a:t>
            </a:r>
            <a:r>
              <a:rPr lang="en" sz="796"/>
              <a:t>interface</a:t>
            </a:r>
            <a:endParaRPr sz="796"/>
          </a:p>
        </p:txBody>
      </p:sp>
      <p:sp>
        <p:nvSpPr>
          <p:cNvPr id="486" name="Google Shape;486;p18"/>
          <p:cNvSpPr/>
          <p:nvPr/>
        </p:nvSpPr>
        <p:spPr>
          <a:xfrm>
            <a:off x="5075747" y="4212568"/>
            <a:ext cx="937200" cy="2865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96"/>
              <a:t>ADE Manager</a:t>
            </a:r>
            <a:endParaRPr sz="796"/>
          </a:p>
        </p:txBody>
      </p:sp>
      <p:sp>
        <p:nvSpPr>
          <p:cNvPr id="487" name="Google Shape;487;p18"/>
          <p:cNvSpPr/>
          <p:nvPr/>
        </p:nvSpPr>
        <p:spPr>
          <a:xfrm>
            <a:off x="6255228" y="4103177"/>
            <a:ext cx="485400" cy="462300"/>
          </a:xfrm>
          <a:prstGeom prst="ellipse">
            <a:avLst/>
          </a:prstGeom>
          <a:solidFill>
            <a:srgbClr val="FBF9F1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73"/>
              <a:t>BC</a:t>
            </a:r>
            <a:endParaRPr sz="973"/>
          </a:p>
        </p:txBody>
      </p:sp>
      <p:sp>
        <p:nvSpPr>
          <p:cNvPr id="488" name="Google Shape;488;p18"/>
          <p:cNvSpPr/>
          <p:nvPr/>
        </p:nvSpPr>
        <p:spPr>
          <a:xfrm>
            <a:off x="6974400" y="4010500"/>
            <a:ext cx="937200" cy="6759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96"/>
              <a:t>Actuator drive electronics</a:t>
            </a:r>
            <a:endParaRPr sz="796"/>
          </a:p>
        </p:txBody>
      </p:sp>
      <p:sp>
        <p:nvSpPr>
          <p:cNvPr id="489" name="Google Shape;489;p18"/>
          <p:cNvSpPr/>
          <p:nvPr/>
        </p:nvSpPr>
        <p:spPr>
          <a:xfrm>
            <a:off x="8163505" y="3977980"/>
            <a:ext cx="348000" cy="331800"/>
          </a:xfrm>
          <a:prstGeom prst="ellipse">
            <a:avLst/>
          </a:prstGeom>
          <a:solidFill>
            <a:srgbClr val="8FB5D0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73"/>
              <a:t>M</a:t>
            </a:r>
            <a:endParaRPr sz="973"/>
          </a:p>
        </p:txBody>
      </p:sp>
      <p:sp>
        <p:nvSpPr>
          <p:cNvPr id="490" name="Google Shape;490;p18"/>
          <p:cNvSpPr/>
          <p:nvPr/>
        </p:nvSpPr>
        <p:spPr>
          <a:xfrm>
            <a:off x="8173030" y="4353798"/>
            <a:ext cx="348000" cy="331800"/>
          </a:xfrm>
          <a:prstGeom prst="ellipse">
            <a:avLst/>
          </a:prstGeom>
          <a:solidFill>
            <a:srgbClr val="8FB5D0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73"/>
              <a:t>M</a:t>
            </a:r>
            <a:endParaRPr sz="973"/>
          </a:p>
        </p:txBody>
      </p:sp>
      <p:sp>
        <p:nvSpPr>
          <p:cNvPr id="491" name="Google Shape;491;p18"/>
          <p:cNvSpPr/>
          <p:nvPr/>
        </p:nvSpPr>
        <p:spPr>
          <a:xfrm>
            <a:off x="1777380" y="1375644"/>
            <a:ext cx="1289100" cy="2865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73"/>
              <a:t>AbsLoc</a:t>
            </a:r>
            <a:endParaRPr sz="973"/>
          </a:p>
        </p:txBody>
      </p:sp>
      <p:sp>
        <p:nvSpPr>
          <p:cNvPr id="492" name="Google Shape;492;p18"/>
          <p:cNvSpPr/>
          <p:nvPr/>
        </p:nvSpPr>
        <p:spPr>
          <a:xfrm rot="-5400000">
            <a:off x="716401" y="1827731"/>
            <a:ext cx="1339500" cy="4353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96">
                <a:solidFill>
                  <a:schemeClr val="dk1"/>
                </a:solidFill>
              </a:rPr>
              <a:t>Mobility equipment interface</a:t>
            </a:r>
            <a:endParaRPr sz="796">
              <a:solidFill>
                <a:schemeClr val="dk1"/>
              </a:solidFill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1777380" y="1787733"/>
            <a:ext cx="1289100" cy="9552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3"/>
          </a:p>
        </p:txBody>
      </p:sp>
      <p:sp>
        <p:nvSpPr>
          <p:cNvPr id="494" name="Google Shape;494;p18"/>
          <p:cNvSpPr/>
          <p:nvPr/>
        </p:nvSpPr>
        <p:spPr>
          <a:xfrm>
            <a:off x="1782687" y="2842311"/>
            <a:ext cx="1289100" cy="1601700"/>
          </a:xfrm>
          <a:prstGeom prst="roundRect">
            <a:avLst>
              <a:gd fmla="val 16667" name="adj"/>
            </a:avLst>
          </a:prstGeom>
          <a:solidFill>
            <a:srgbClr val="FBF9F1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3"/>
          </a:p>
        </p:txBody>
      </p:sp>
      <p:sp>
        <p:nvSpPr>
          <p:cNvPr id="495" name="Google Shape;495;p18"/>
          <p:cNvSpPr/>
          <p:nvPr/>
        </p:nvSpPr>
        <p:spPr>
          <a:xfrm>
            <a:off x="1886903" y="3262814"/>
            <a:ext cx="1069800" cy="23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/>
              <a:t>Coarse tilt</a:t>
            </a:r>
            <a:endParaRPr sz="885"/>
          </a:p>
        </p:txBody>
      </p:sp>
      <p:sp>
        <p:nvSpPr>
          <p:cNvPr id="496" name="Google Shape;496;p18"/>
          <p:cNvSpPr/>
          <p:nvPr/>
        </p:nvSpPr>
        <p:spPr>
          <a:xfrm>
            <a:off x="1886903" y="3667207"/>
            <a:ext cx="1069800" cy="23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/>
              <a:t>Slippage</a:t>
            </a:r>
            <a:endParaRPr sz="885"/>
          </a:p>
        </p:txBody>
      </p:sp>
      <p:sp>
        <p:nvSpPr>
          <p:cNvPr id="497" name="Google Shape;497;p18"/>
          <p:cNvSpPr/>
          <p:nvPr/>
        </p:nvSpPr>
        <p:spPr>
          <a:xfrm>
            <a:off x="1886903" y="4071600"/>
            <a:ext cx="1069800" cy="23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85"/>
              <a:t>Safe position</a:t>
            </a:r>
            <a:endParaRPr sz="885"/>
          </a:p>
        </p:txBody>
      </p:sp>
      <p:sp>
        <p:nvSpPr>
          <p:cNvPr id="498" name="Google Shape;498;p18"/>
          <p:cNvSpPr/>
          <p:nvPr/>
        </p:nvSpPr>
        <p:spPr>
          <a:xfrm>
            <a:off x="2467312" y="2073648"/>
            <a:ext cx="546600" cy="33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475" lIns="61475" spcFirstLastPara="1" rIns="61475" wrap="square" tIns="6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2"/>
              <a:t>Estimator</a:t>
            </a:r>
            <a:endParaRPr sz="672"/>
          </a:p>
        </p:txBody>
      </p:sp>
      <p:sp>
        <p:nvSpPr>
          <p:cNvPr id="499" name="Google Shape;499;p18"/>
          <p:cNvSpPr/>
          <p:nvPr/>
        </p:nvSpPr>
        <p:spPr>
          <a:xfrm>
            <a:off x="1835448" y="1834014"/>
            <a:ext cx="546600" cy="33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475" lIns="61475" spcFirstLastPara="1" rIns="61475" wrap="square" tIns="6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2"/>
              <a:t>Wheel</a:t>
            </a:r>
            <a:r>
              <a:rPr lang="en" sz="672"/>
              <a:t> Odo</a:t>
            </a:r>
            <a:endParaRPr sz="672"/>
          </a:p>
        </p:txBody>
      </p:sp>
      <p:sp>
        <p:nvSpPr>
          <p:cNvPr id="500" name="Google Shape;500;p18"/>
          <p:cNvSpPr/>
          <p:nvPr/>
        </p:nvSpPr>
        <p:spPr>
          <a:xfrm>
            <a:off x="1835448" y="2331037"/>
            <a:ext cx="546600" cy="33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6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475" lIns="61475" spcFirstLastPara="1" rIns="61475" wrap="square" tIns="6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72"/>
              <a:t>VisLOC</a:t>
            </a:r>
            <a:endParaRPr sz="672"/>
          </a:p>
        </p:txBody>
      </p:sp>
      <p:cxnSp>
        <p:nvCxnSpPr>
          <p:cNvPr id="501" name="Google Shape;501;p18"/>
          <p:cNvCxnSpPr>
            <a:stCxn id="477" idx="1"/>
          </p:cNvCxnSpPr>
          <p:nvPr/>
        </p:nvCxnSpPr>
        <p:spPr>
          <a:xfrm rot="10800000">
            <a:off x="4585317" y="1576702"/>
            <a:ext cx="5532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18"/>
          <p:cNvCxnSpPr/>
          <p:nvPr/>
        </p:nvCxnSpPr>
        <p:spPr>
          <a:xfrm flipH="1" rot="10800000">
            <a:off x="4604375" y="2346875"/>
            <a:ext cx="522600" cy="96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" name="Google Shape;503;p18"/>
          <p:cNvCxnSpPr>
            <a:stCxn id="478" idx="3"/>
          </p:cNvCxnSpPr>
          <p:nvPr/>
        </p:nvCxnSpPr>
        <p:spPr>
          <a:xfrm>
            <a:off x="5749315" y="1576707"/>
            <a:ext cx="1827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18"/>
          <p:cNvCxnSpPr/>
          <p:nvPr/>
        </p:nvCxnSpPr>
        <p:spPr>
          <a:xfrm>
            <a:off x="6558399" y="1574530"/>
            <a:ext cx="1827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18"/>
          <p:cNvCxnSpPr>
            <a:endCxn id="479" idx="0"/>
          </p:cNvCxnSpPr>
          <p:nvPr/>
        </p:nvCxnSpPr>
        <p:spPr>
          <a:xfrm flipH="1">
            <a:off x="6240606" y="1254508"/>
            <a:ext cx="1356600" cy="115800"/>
          </a:xfrm>
          <a:prstGeom prst="bentConnector2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18"/>
          <p:cNvCxnSpPr>
            <a:endCxn id="479" idx="2"/>
          </p:cNvCxnSpPr>
          <p:nvPr/>
        </p:nvCxnSpPr>
        <p:spPr>
          <a:xfrm rot="10800000">
            <a:off x="6240606" y="1783133"/>
            <a:ext cx="1356600" cy="118500"/>
          </a:xfrm>
          <a:prstGeom prst="bentConnector2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18"/>
          <p:cNvSpPr/>
          <p:nvPr/>
        </p:nvSpPr>
        <p:spPr>
          <a:xfrm>
            <a:off x="3588650" y="638879"/>
            <a:ext cx="1028100" cy="369300"/>
          </a:xfrm>
          <a:prstGeom prst="parallelogram">
            <a:avLst>
              <a:gd fmla="val 25000" name="adj"/>
            </a:avLst>
          </a:prstGeom>
          <a:solidFill>
            <a:srgbClr val="DED9FF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75" lIns="80875" spcFirstLastPara="1" rIns="80875" wrap="square" tIns="8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73"/>
              <a:t>Command GPU</a:t>
            </a:r>
            <a:endParaRPr sz="973"/>
          </a:p>
        </p:txBody>
      </p:sp>
      <p:cxnSp>
        <p:nvCxnSpPr>
          <p:cNvPr id="508" name="Google Shape;508;p18"/>
          <p:cNvCxnSpPr>
            <a:stCxn id="507" idx="4"/>
            <a:endCxn id="475" idx="0"/>
          </p:cNvCxnSpPr>
          <p:nvPr/>
        </p:nvCxnSpPr>
        <p:spPr>
          <a:xfrm>
            <a:off x="4102700" y="1008179"/>
            <a:ext cx="0" cy="2274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18"/>
          <p:cNvCxnSpPr>
            <a:stCxn id="491" idx="3"/>
          </p:cNvCxnSpPr>
          <p:nvPr/>
        </p:nvCxnSpPr>
        <p:spPr>
          <a:xfrm>
            <a:off x="3066480" y="1518894"/>
            <a:ext cx="5661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18"/>
          <p:cNvCxnSpPr/>
          <p:nvPr/>
        </p:nvCxnSpPr>
        <p:spPr>
          <a:xfrm>
            <a:off x="3066450" y="2238828"/>
            <a:ext cx="5661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18"/>
          <p:cNvCxnSpPr>
            <a:endCxn id="499" idx="1"/>
          </p:cNvCxnSpPr>
          <p:nvPr/>
        </p:nvCxnSpPr>
        <p:spPr>
          <a:xfrm>
            <a:off x="1602348" y="1999164"/>
            <a:ext cx="2331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2" name="Google Shape;512;p18"/>
          <p:cNvCxnSpPr/>
          <p:nvPr/>
        </p:nvCxnSpPr>
        <p:spPr>
          <a:xfrm>
            <a:off x="1602205" y="2462518"/>
            <a:ext cx="2331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p18"/>
          <p:cNvCxnSpPr>
            <a:stCxn id="499" idx="3"/>
            <a:endCxn id="498" idx="0"/>
          </p:cNvCxnSpPr>
          <p:nvPr/>
        </p:nvCxnSpPr>
        <p:spPr>
          <a:xfrm>
            <a:off x="2382048" y="1999164"/>
            <a:ext cx="358500" cy="74400"/>
          </a:xfrm>
          <a:prstGeom prst="bentConnector2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18"/>
          <p:cNvCxnSpPr>
            <a:stCxn id="500" idx="3"/>
            <a:endCxn id="498" idx="2"/>
          </p:cNvCxnSpPr>
          <p:nvPr/>
        </p:nvCxnSpPr>
        <p:spPr>
          <a:xfrm flipH="1" rot="10800000">
            <a:off x="2382048" y="2404087"/>
            <a:ext cx="358500" cy="92100"/>
          </a:xfrm>
          <a:prstGeom prst="bentConnector2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18"/>
          <p:cNvCxnSpPr>
            <a:stCxn id="492" idx="1"/>
            <a:endCxn id="494" idx="1"/>
          </p:cNvCxnSpPr>
          <p:nvPr/>
        </p:nvCxnSpPr>
        <p:spPr>
          <a:xfrm flipH="1" rot="-5400000">
            <a:off x="1120501" y="2980781"/>
            <a:ext cx="927900" cy="396600"/>
          </a:xfrm>
          <a:prstGeom prst="bentConnector2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18"/>
          <p:cNvCxnSpPr>
            <a:endCxn id="494" idx="1"/>
          </p:cNvCxnSpPr>
          <p:nvPr/>
        </p:nvCxnSpPr>
        <p:spPr>
          <a:xfrm flipH="1" rot="10800000">
            <a:off x="1390887" y="3643161"/>
            <a:ext cx="391800" cy="12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18"/>
          <p:cNvCxnSpPr/>
          <p:nvPr/>
        </p:nvCxnSpPr>
        <p:spPr>
          <a:xfrm>
            <a:off x="4170041" y="3036603"/>
            <a:ext cx="0" cy="2010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18"/>
          <p:cNvCxnSpPr/>
          <p:nvPr/>
        </p:nvCxnSpPr>
        <p:spPr>
          <a:xfrm rot="10800000">
            <a:off x="4085792" y="3036539"/>
            <a:ext cx="0" cy="2010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18"/>
          <p:cNvCxnSpPr/>
          <p:nvPr/>
        </p:nvCxnSpPr>
        <p:spPr>
          <a:xfrm>
            <a:off x="4170041" y="3525245"/>
            <a:ext cx="0" cy="2010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18"/>
          <p:cNvCxnSpPr/>
          <p:nvPr/>
        </p:nvCxnSpPr>
        <p:spPr>
          <a:xfrm rot="10800000">
            <a:off x="4085792" y="3525181"/>
            <a:ext cx="0" cy="2010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1" name="Google Shape;521;p18"/>
          <p:cNvCxnSpPr>
            <a:stCxn id="484" idx="2"/>
            <a:endCxn id="485" idx="0"/>
          </p:cNvCxnSpPr>
          <p:nvPr/>
        </p:nvCxnSpPr>
        <p:spPr>
          <a:xfrm>
            <a:off x="4102655" y="4010426"/>
            <a:ext cx="0" cy="2022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2" name="Google Shape;522;p18"/>
          <p:cNvCxnSpPr>
            <a:stCxn id="485" idx="3"/>
            <a:endCxn id="486" idx="1"/>
          </p:cNvCxnSpPr>
          <p:nvPr/>
        </p:nvCxnSpPr>
        <p:spPr>
          <a:xfrm>
            <a:off x="4860905" y="4355818"/>
            <a:ext cx="2148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3" name="Google Shape;523;p18"/>
          <p:cNvCxnSpPr/>
          <p:nvPr/>
        </p:nvCxnSpPr>
        <p:spPr>
          <a:xfrm rot="10800000">
            <a:off x="6006482" y="4383320"/>
            <a:ext cx="2445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4" name="Google Shape;524;p18"/>
          <p:cNvCxnSpPr/>
          <p:nvPr/>
        </p:nvCxnSpPr>
        <p:spPr>
          <a:xfrm>
            <a:off x="6015086" y="4282222"/>
            <a:ext cx="252900" cy="84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5" name="Google Shape;525;p18"/>
          <p:cNvCxnSpPr/>
          <p:nvPr/>
        </p:nvCxnSpPr>
        <p:spPr>
          <a:xfrm rot="10800000">
            <a:off x="6722595" y="4374895"/>
            <a:ext cx="2445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6" name="Google Shape;526;p18"/>
          <p:cNvCxnSpPr/>
          <p:nvPr/>
        </p:nvCxnSpPr>
        <p:spPr>
          <a:xfrm>
            <a:off x="6731199" y="4273797"/>
            <a:ext cx="252900" cy="84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18"/>
          <p:cNvCxnSpPr/>
          <p:nvPr/>
        </p:nvCxnSpPr>
        <p:spPr>
          <a:xfrm rot="10800000">
            <a:off x="7913220" y="4546345"/>
            <a:ext cx="2445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8" name="Google Shape;528;p18"/>
          <p:cNvCxnSpPr/>
          <p:nvPr/>
        </p:nvCxnSpPr>
        <p:spPr>
          <a:xfrm>
            <a:off x="7921824" y="4445247"/>
            <a:ext cx="252900" cy="84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9" name="Google Shape;529;p18"/>
          <p:cNvCxnSpPr/>
          <p:nvPr/>
        </p:nvCxnSpPr>
        <p:spPr>
          <a:xfrm rot="10800000">
            <a:off x="7903695" y="4222495"/>
            <a:ext cx="2445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0" name="Google Shape;530;p18"/>
          <p:cNvCxnSpPr/>
          <p:nvPr/>
        </p:nvCxnSpPr>
        <p:spPr>
          <a:xfrm>
            <a:off x="7912299" y="4121397"/>
            <a:ext cx="252900" cy="84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1" name="Google Shape;531;p18"/>
          <p:cNvSpPr/>
          <p:nvPr/>
        </p:nvSpPr>
        <p:spPr>
          <a:xfrm>
            <a:off x="780250" y="1582925"/>
            <a:ext cx="57300" cy="11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8"/>
          <p:cNvSpPr/>
          <p:nvPr/>
        </p:nvSpPr>
        <p:spPr>
          <a:xfrm>
            <a:off x="885025" y="1582925"/>
            <a:ext cx="57300" cy="11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8"/>
          <p:cNvSpPr/>
          <p:nvPr/>
        </p:nvSpPr>
        <p:spPr>
          <a:xfrm>
            <a:off x="889225" y="1834963"/>
            <a:ext cx="57300" cy="1185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8"/>
          <p:cNvSpPr/>
          <p:nvPr/>
        </p:nvSpPr>
        <p:spPr>
          <a:xfrm>
            <a:off x="898750" y="2073088"/>
            <a:ext cx="57300" cy="1185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8"/>
          <p:cNvSpPr/>
          <p:nvPr/>
        </p:nvSpPr>
        <p:spPr>
          <a:xfrm>
            <a:off x="799300" y="2354450"/>
            <a:ext cx="57300" cy="11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8"/>
          <p:cNvSpPr/>
          <p:nvPr/>
        </p:nvSpPr>
        <p:spPr>
          <a:xfrm>
            <a:off x="904075" y="2354450"/>
            <a:ext cx="57300" cy="11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7" name="Google Shape;537;p18"/>
          <p:cNvCxnSpPr>
            <a:stCxn id="532" idx="3"/>
          </p:cNvCxnSpPr>
          <p:nvPr/>
        </p:nvCxnSpPr>
        <p:spPr>
          <a:xfrm>
            <a:off x="942325" y="1642175"/>
            <a:ext cx="22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18"/>
          <p:cNvCxnSpPr/>
          <p:nvPr/>
        </p:nvCxnSpPr>
        <p:spPr>
          <a:xfrm>
            <a:off x="951850" y="1899350"/>
            <a:ext cx="22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18"/>
          <p:cNvCxnSpPr/>
          <p:nvPr/>
        </p:nvCxnSpPr>
        <p:spPr>
          <a:xfrm>
            <a:off x="961375" y="2127950"/>
            <a:ext cx="22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18"/>
          <p:cNvCxnSpPr/>
          <p:nvPr/>
        </p:nvCxnSpPr>
        <p:spPr>
          <a:xfrm>
            <a:off x="961375" y="2413700"/>
            <a:ext cx="22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1" name="Google Shape;541;p18"/>
          <p:cNvSpPr/>
          <p:nvPr/>
        </p:nvSpPr>
        <p:spPr>
          <a:xfrm rot="10800000">
            <a:off x="8275975" y="1289825"/>
            <a:ext cx="57300" cy="11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8"/>
          <p:cNvSpPr/>
          <p:nvPr/>
        </p:nvSpPr>
        <p:spPr>
          <a:xfrm rot="10800000">
            <a:off x="8171200" y="1289825"/>
            <a:ext cx="57300" cy="11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3" name="Google Shape;543;p18"/>
          <p:cNvCxnSpPr/>
          <p:nvPr/>
        </p:nvCxnSpPr>
        <p:spPr>
          <a:xfrm rot="10800000">
            <a:off x="7950400" y="1330025"/>
            <a:ext cx="22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18"/>
          <p:cNvCxnSpPr/>
          <p:nvPr/>
        </p:nvCxnSpPr>
        <p:spPr>
          <a:xfrm>
            <a:off x="7973350" y="1387175"/>
            <a:ext cx="19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5" name="Google Shape;545;p18"/>
          <p:cNvSpPr txBox="1"/>
          <p:nvPr/>
        </p:nvSpPr>
        <p:spPr>
          <a:xfrm>
            <a:off x="300025" y="1504925"/>
            <a:ext cx="56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NAV CAM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46" name="Google Shape;546;p18"/>
          <p:cNvSpPr txBox="1"/>
          <p:nvPr/>
        </p:nvSpPr>
        <p:spPr>
          <a:xfrm>
            <a:off x="461950" y="1743050"/>
            <a:ext cx="56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IMU acc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47" name="Google Shape;547;p18"/>
          <p:cNvSpPr txBox="1"/>
          <p:nvPr/>
        </p:nvSpPr>
        <p:spPr>
          <a:xfrm>
            <a:off x="452425" y="1981175"/>
            <a:ext cx="56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IMU gyro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48" name="Google Shape;548;p18"/>
          <p:cNvSpPr txBox="1"/>
          <p:nvPr/>
        </p:nvSpPr>
        <p:spPr>
          <a:xfrm>
            <a:off x="338125" y="2266925"/>
            <a:ext cx="56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Loc</a:t>
            </a:r>
            <a:r>
              <a:rPr b="1" lang="en" sz="600">
                <a:solidFill>
                  <a:schemeClr val="dk2"/>
                </a:solidFill>
              </a:rPr>
              <a:t> CAM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49" name="Google Shape;549;p18"/>
          <p:cNvSpPr txBox="1"/>
          <p:nvPr/>
        </p:nvSpPr>
        <p:spPr>
          <a:xfrm>
            <a:off x="8285988" y="1212050"/>
            <a:ext cx="56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NAV CAM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50" name="Google Shape;550;p18"/>
          <p:cNvSpPr txBox="1"/>
          <p:nvPr/>
        </p:nvSpPr>
        <p:spPr>
          <a:xfrm>
            <a:off x="8006828" y="3752300"/>
            <a:ext cx="721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Pan and Tilt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51" name="Google Shape;551;p18"/>
          <p:cNvSpPr txBox="1"/>
          <p:nvPr/>
        </p:nvSpPr>
        <p:spPr>
          <a:xfrm>
            <a:off x="8014853" y="4624850"/>
            <a:ext cx="72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BEMA</a:t>
            </a:r>
            <a:endParaRPr b="1" sz="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(18 motors)</a:t>
            </a:r>
            <a:endParaRPr b="1" sz="600">
              <a:solidFill>
                <a:schemeClr val="dk2"/>
              </a:solidFill>
            </a:endParaRPr>
          </a:p>
        </p:txBody>
      </p:sp>
      <p:cxnSp>
        <p:nvCxnSpPr>
          <p:cNvPr id="552" name="Google Shape;552;p18"/>
          <p:cNvCxnSpPr/>
          <p:nvPr/>
        </p:nvCxnSpPr>
        <p:spPr>
          <a:xfrm rot="10800000">
            <a:off x="4575792" y="2272027"/>
            <a:ext cx="553200" cy="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3" name="Google Shape;553;p18"/>
          <p:cNvSpPr txBox="1"/>
          <p:nvPr/>
        </p:nvSpPr>
        <p:spPr>
          <a:xfrm>
            <a:off x="4604438" y="1363763"/>
            <a:ext cx="56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NAV MAP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54" name="Google Shape;554;p18"/>
          <p:cNvSpPr txBox="1"/>
          <p:nvPr/>
        </p:nvSpPr>
        <p:spPr>
          <a:xfrm>
            <a:off x="4575863" y="1895438"/>
            <a:ext cx="56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NAV MAP, pose and target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55" name="Google Shape;555;p18"/>
          <p:cNvSpPr txBox="1"/>
          <p:nvPr/>
        </p:nvSpPr>
        <p:spPr>
          <a:xfrm>
            <a:off x="4702688" y="2290413"/>
            <a:ext cx="56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Path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56" name="Google Shape;556;p18"/>
          <p:cNvSpPr txBox="1"/>
          <p:nvPr/>
        </p:nvSpPr>
        <p:spPr>
          <a:xfrm>
            <a:off x="4138126" y="2986400"/>
            <a:ext cx="174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Position, heading,path sequence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57" name="Google Shape;557;p18"/>
          <p:cNvSpPr txBox="1"/>
          <p:nvPr/>
        </p:nvSpPr>
        <p:spPr>
          <a:xfrm>
            <a:off x="4133425" y="3485050"/>
            <a:ext cx="1069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GenACK, GenPT, Stop 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58" name="Google Shape;558;p18"/>
          <p:cNvSpPr txBox="1"/>
          <p:nvPr/>
        </p:nvSpPr>
        <p:spPr>
          <a:xfrm>
            <a:off x="4080975" y="3983700"/>
            <a:ext cx="151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Maneuver motor command</a:t>
            </a:r>
            <a:r>
              <a:rPr b="1" lang="en" sz="600">
                <a:solidFill>
                  <a:schemeClr val="dk2"/>
                </a:solidFill>
              </a:rPr>
              <a:t> 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59" name="Google Shape;559;p18"/>
          <p:cNvSpPr txBox="1"/>
          <p:nvPr/>
        </p:nvSpPr>
        <p:spPr>
          <a:xfrm>
            <a:off x="3813750" y="4451625"/>
            <a:ext cx="1783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Corrected m</a:t>
            </a:r>
            <a:r>
              <a:rPr b="1" lang="en" sz="600">
                <a:solidFill>
                  <a:schemeClr val="dk2"/>
                </a:solidFill>
              </a:rPr>
              <a:t>aneuver motor command 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60" name="Google Shape;560;p18"/>
          <p:cNvSpPr txBox="1"/>
          <p:nvPr/>
        </p:nvSpPr>
        <p:spPr>
          <a:xfrm>
            <a:off x="3071775" y="1454450"/>
            <a:ext cx="5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Reference attitude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61" name="Google Shape;561;p18"/>
          <p:cNvSpPr txBox="1"/>
          <p:nvPr/>
        </p:nvSpPr>
        <p:spPr>
          <a:xfrm>
            <a:off x="3088225" y="2193588"/>
            <a:ext cx="56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Position and </a:t>
            </a:r>
            <a:r>
              <a:rPr b="1" lang="en" sz="600">
                <a:solidFill>
                  <a:schemeClr val="dk2"/>
                </a:solidFill>
              </a:rPr>
              <a:t>attitude</a:t>
            </a:r>
            <a:endParaRPr b="1" sz="600">
              <a:solidFill>
                <a:schemeClr val="dk2"/>
              </a:solidFill>
            </a:endParaRPr>
          </a:p>
        </p:txBody>
      </p:sp>
      <p:sp>
        <p:nvSpPr>
          <p:cNvPr id="562" name="Google Shape;562;p18"/>
          <p:cNvSpPr txBox="1"/>
          <p:nvPr/>
        </p:nvSpPr>
        <p:spPr>
          <a:xfrm>
            <a:off x="478150" y="2474075"/>
            <a:ext cx="80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dk2"/>
                </a:solidFill>
              </a:rPr>
              <a:t>Locomotion</a:t>
            </a:r>
            <a:endParaRPr b="1"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